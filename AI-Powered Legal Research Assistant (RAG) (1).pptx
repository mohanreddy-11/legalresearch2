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6" r:id="rId11"/>
    <p:sldId id="265" r:id="rId12"/>
    <p:sldId id="267" r:id="rId13"/>
  </p:sldIdLst>
  <p:sldSz cx="18288000" cy="10287000"/>
  <p:notesSz cx="6858000" cy="9144000"/>
  <p:embeddedFontLst>
    <p:embeddedFont>
      <p:font typeface="Koho" panose="020B0604020202020204" charset="-34"/>
      <p:regular r:id="rId14"/>
    </p:embeddedFont>
    <p:embeddedFont>
      <p:font typeface="Koho Bold" panose="020B0604020202020204" charset="-34"/>
      <p:regular r:id="rId15"/>
    </p:embeddedFont>
    <p:embeddedFont>
      <p:font typeface="Neo Tech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500" y="6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KA REDDY VALLETI" userId="1271b883438baa51" providerId="LiveId" clId="{18B159DF-7480-4112-B94E-E8B2F7CA0FBE}"/>
    <pc:docChg chg="custSel modSld sldOrd">
      <pc:chgData name="HARSHIKA REDDY VALLETI" userId="1271b883438baa51" providerId="LiveId" clId="{18B159DF-7480-4112-B94E-E8B2F7CA0FBE}" dt="2026-07-22T03:18:07.692" v="190" actId="20577"/>
      <pc:docMkLst>
        <pc:docMk/>
      </pc:docMkLst>
      <pc:sldChg chg="modSp mod">
        <pc:chgData name="HARSHIKA REDDY VALLETI" userId="1271b883438baa51" providerId="LiveId" clId="{18B159DF-7480-4112-B94E-E8B2F7CA0FBE}" dt="2026-07-22T03:18:07.692" v="190" actId="20577"/>
        <pc:sldMkLst>
          <pc:docMk/>
          <pc:sldMk cId="0" sldId="256"/>
        </pc:sldMkLst>
        <pc:spChg chg="mod">
          <ac:chgData name="HARSHIKA REDDY VALLETI" userId="1271b883438baa51" providerId="LiveId" clId="{18B159DF-7480-4112-B94E-E8B2F7CA0FBE}" dt="2026-07-22T03:18:07.692" v="190" actId="20577"/>
          <ac:spMkLst>
            <pc:docMk/>
            <pc:sldMk cId="0" sldId="256"/>
            <ac:spMk id="4" creationId="{00000000-0000-0000-0000-000000000000}"/>
          </ac:spMkLst>
        </pc:spChg>
      </pc:sldChg>
      <pc:sldChg chg="addSp delSp modSp mod">
        <pc:chgData name="HARSHIKA REDDY VALLETI" userId="1271b883438baa51" providerId="LiveId" clId="{18B159DF-7480-4112-B94E-E8B2F7CA0FBE}" dt="2026-07-22T03:08:37.200" v="135" actId="14100"/>
        <pc:sldMkLst>
          <pc:docMk/>
          <pc:sldMk cId="0" sldId="262"/>
        </pc:sldMkLst>
        <pc:spChg chg="mod">
          <ac:chgData name="HARSHIKA REDDY VALLETI" userId="1271b883438baa51" providerId="LiveId" clId="{18B159DF-7480-4112-B94E-E8B2F7CA0FBE}" dt="2026-07-22T03:08:12.889" v="133" actId="1076"/>
          <ac:spMkLst>
            <pc:docMk/>
            <pc:sldMk cId="0" sldId="262"/>
            <ac:spMk id="2" creationId="{00000000-0000-0000-0000-000000000000}"/>
          </ac:spMkLst>
        </pc:spChg>
        <pc:spChg chg="del">
          <ac:chgData name="HARSHIKA REDDY VALLETI" userId="1271b883438baa51" providerId="LiveId" clId="{18B159DF-7480-4112-B94E-E8B2F7CA0FBE}" dt="2026-07-22T03:07:38.777" v="126" actId="478"/>
          <ac:spMkLst>
            <pc:docMk/>
            <pc:sldMk cId="0" sldId="262"/>
            <ac:spMk id="3" creationId="{00000000-0000-0000-0000-000000000000}"/>
          </ac:spMkLst>
        </pc:spChg>
        <pc:spChg chg="mod">
          <ac:chgData name="HARSHIKA REDDY VALLETI" userId="1271b883438baa51" providerId="LiveId" clId="{18B159DF-7480-4112-B94E-E8B2F7CA0FBE}" dt="2026-07-22T03:08:00.940" v="131" actId="1076"/>
          <ac:spMkLst>
            <pc:docMk/>
            <pc:sldMk cId="0" sldId="262"/>
            <ac:spMk id="4" creationId="{00000000-0000-0000-0000-000000000000}"/>
          </ac:spMkLst>
        </pc:spChg>
        <pc:spChg chg="mod">
          <ac:chgData name="HARSHIKA REDDY VALLETI" userId="1271b883438baa51" providerId="LiveId" clId="{18B159DF-7480-4112-B94E-E8B2F7CA0FBE}" dt="2026-07-22T03:08:28.843" v="134" actId="255"/>
          <ac:spMkLst>
            <pc:docMk/>
            <pc:sldMk cId="0" sldId="262"/>
            <ac:spMk id="5" creationId="{00000000-0000-0000-0000-000000000000}"/>
          </ac:spMkLst>
        </pc:spChg>
        <pc:picChg chg="add mod">
          <ac:chgData name="HARSHIKA REDDY VALLETI" userId="1271b883438baa51" providerId="LiveId" clId="{18B159DF-7480-4112-B94E-E8B2F7CA0FBE}" dt="2026-07-22T03:08:37.200" v="135" actId="14100"/>
          <ac:picMkLst>
            <pc:docMk/>
            <pc:sldMk cId="0" sldId="262"/>
            <ac:picMk id="7" creationId="{E1D82C47-8D1E-8A34-8F34-591BCD0F5DFE}"/>
          </ac:picMkLst>
        </pc:picChg>
      </pc:sldChg>
      <pc:sldChg chg="addSp delSp modSp mod">
        <pc:chgData name="HARSHIKA REDDY VALLETI" userId="1271b883438baa51" providerId="LiveId" clId="{18B159DF-7480-4112-B94E-E8B2F7CA0FBE}" dt="2026-07-22T03:14:24.355" v="154" actId="1076"/>
        <pc:sldMkLst>
          <pc:docMk/>
          <pc:sldMk cId="0" sldId="263"/>
        </pc:sldMkLst>
        <pc:spChg chg="del mod">
          <ac:chgData name="HARSHIKA REDDY VALLETI" userId="1271b883438baa51" providerId="LiveId" clId="{18B159DF-7480-4112-B94E-E8B2F7CA0FBE}" dt="2026-07-22T03:11:18.012" v="142" actId="478"/>
          <ac:spMkLst>
            <pc:docMk/>
            <pc:sldMk cId="0" sldId="263"/>
            <ac:spMk id="5" creationId="{00000000-0000-0000-0000-000000000000}"/>
          </ac:spMkLst>
        </pc:spChg>
        <pc:spChg chg="mod">
          <ac:chgData name="HARSHIKA REDDY VALLETI" userId="1271b883438baa51" providerId="LiveId" clId="{18B159DF-7480-4112-B94E-E8B2F7CA0FBE}" dt="2026-07-22T03:11:59.320" v="148" actId="1076"/>
          <ac:spMkLst>
            <pc:docMk/>
            <pc:sldMk cId="0" sldId="263"/>
            <ac:spMk id="8" creationId="{00000000-0000-0000-0000-000000000000}"/>
          </ac:spMkLst>
        </pc:spChg>
        <pc:spChg chg="mod">
          <ac:chgData name="HARSHIKA REDDY VALLETI" userId="1271b883438baa51" providerId="LiveId" clId="{18B159DF-7480-4112-B94E-E8B2F7CA0FBE}" dt="2026-07-22T03:12:02.980" v="149" actId="1076"/>
          <ac:spMkLst>
            <pc:docMk/>
            <pc:sldMk cId="0" sldId="263"/>
            <ac:spMk id="9" creationId="{00000000-0000-0000-0000-000000000000}"/>
          </ac:spMkLst>
        </pc:spChg>
        <pc:spChg chg="mod">
          <ac:chgData name="HARSHIKA REDDY VALLETI" userId="1271b883438baa51" providerId="LiveId" clId="{18B159DF-7480-4112-B94E-E8B2F7CA0FBE}" dt="2026-07-22T03:12:10.791" v="150" actId="1076"/>
          <ac:spMkLst>
            <pc:docMk/>
            <pc:sldMk cId="0" sldId="263"/>
            <ac:spMk id="10" creationId="{00000000-0000-0000-0000-000000000000}"/>
          </ac:spMkLst>
        </pc:spChg>
        <pc:grpChg chg="mod">
          <ac:chgData name="HARSHIKA REDDY VALLETI" userId="1271b883438baa51" providerId="LiveId" clId="{18B159DF-7480-4112-B94E-E8B2F7CA0FBE}" dt="2026-07-22T03:11:45.625" v="146" actId="1076"/>
          <ac:grpSpMkLst>
            <pc:docMk/>
            <pc:sldMk cId="0" sldId="263"/>
            <ac:grpSpMk id="2" creationId="{00000000-0000-0000-0000-000000000000}"/>
          </ac:grpSpMkLst>
        </pc:grpChg>
        <pc:grpChg chg="del">
          <ac:chgData name="HARSHIKA REDDY VALLETI" userId="1271b883438baa51" providerId="LiveId" clId="{18B159DF-7480-4112-B94E-E8B2F7CA0FBE}" dt="2026-07-22T03:10:36.276" v="136" actId="478"/>
          <ac:grpSpMkLst>
            <pc:docMk/>
            <pc:sldMk cId="0" sldId="263"/>
            <ac:grpSpMk id="6" creationId="{00000000-0000-0000-0000-000000000000}"/>
          </ac:grpSpMkLst>
        </pc:grpChg>
        <pc:picChg chg="add mod">
          <ac:chgData name="HARSHIKA REDDY VALLETI" userId="1271b883438baa51" providerId="LiveId" clId="{18B159DF-7480-4112-B94E-E8B2F7CA0FBE}" dt="2026-07-22T03:14:24.355" v="154" actId="1076"/>
          <ac:picMkLst>
            <pc:docMk/>
            <pc:sldMk cId="0" sldId="263"/>
            <ac:picMk id="12" creationId="{0CC9EA69-64C3-4FFB-8C0B-DCEBDDC00C5B}"/>
          </ac:picMkLst>
        </pc:picChg>
      </pc:sldChg>
      <pc:sldChg chg="delSp modSp mod">
        <pc:chgData name="HARSHIKA REDDY VALLETI" userId="1271b883438baa51" providerId="LiveId" clId="{18B159DF-7480-4112-B94E-E8B2F7CA0FBE}" dt="2026-07-22T03:17:25.494" v="177" actId="478"/>
        <pc:sldMkLst>
          <pc:docMk/>
          <pc:sldMk cId="0" sldId="265"/>
        </pc:sldMkLst>
        <pc:spChg chg="mod">
          <ac:chgData name="HARSHIKA REDDY VALLETI" userId="1271b883438baa51" providerId="LiveId" clId="{18B159DF-7480-4112-B94E-E8B2F7CA0FBE}" dt="2026-07-22T03:17:09.439" v="175" actId="12"/>
          <ac:spMkLst>
            <pc:docMk/>
            <pc:sldMk cId="0" sldId="265"/>
            <ac:spMk id="3" creationId="{00000000-0000-0000-0000-000000000000}"/>
          </ac:spMkLst>
        </pc:spChg>
        <pc:spChg chg="del">
          <ac:chgData name="HARSHIKA REDDY VALLETI" userId="1271b883438baa51" providerId="LiveId" clId="{18B159DF-7480-4112-B94E-E8B2F7CA0FBE}" dt="2026-07-22T03:15:01.174" v="156" actId="478"/>
          <ac:spMkLst>
            <pc:docMk/>
            <pc:sldMk cId="0" sldId="265"/>
            <ac:spMk id="5" creationId="{00000000-0000-0000-0000-000000000000}"/>
          </ac:spMkLst>
        </pc:spChg>
        <pc:spChg chg="del mod">
          <ac:chgData name="HARSHIKA REDDY VALLETI" userId="1271b883438baa51" providerId="LiveId" clId="{18B159DF-7480-4112-B94E-E8B2F7CA0FBE}" dt="2026-07-22T03:15:13.597" v="163"/>
          <ac:spMkLst>
            <pc:docMk/>
            <pc:sldMk cId="0" sldId="265"/>
            <ac:spMk id="6" creationId="{00000000-0000-0000-0000-000000000000}"/>
          </ac:spMkLst>
        </pc:spChg>
        <pc:spChg chg="mod">
          <ac:chgData name="HARSHIKA REDDY VALLETI" userId="1271b883438baa51" providerId="LiveId" clId="{18B159DF-7480-4112-B94E-E8B2F7CA0FBE}" dt="2026-07-22T03:17:16.099" v="176" actId="1076"/>
          <ac:spMkLst>
            <pc:docMk/>
            <pc:sldMk cId="0" sldId="265"/>
            <ac:spMk id="7" creationId="{00000000-0000-0000-0000-000000000000}"/>
          </ac:spMkLst>
        </pc:spChg>
        <pc:spChg chg="del">
          <ac:chgData name="HARSHIKA REDDY VALLETI" userId="1271b883438baa51" providerId="LiveId" clId="{18B159DF-7480-4112-B94E-E8B2F7CA0FBE}" dt="2026-07-22T03:17:25.494" v="177" actId="478"/>
          <ac:spMkLst>
            <pc:docMk/>
            <pc:sldMk cId="0" sldId="265"/>
            <ac:spMk id="8" creationId="{00000000-0000-0000-0000-000000000000}"/>
          </ac:spMkLst>
        </pc:spChg>
        <pc:spChg chg="del">
          <ac:chgData name="HARSHIKA REDDY VALLETI" userId="1271b883438baa51" providerId="LiveId" clId="{18B159DF-7480-4112-B94E-E8B2F7CA0FBE}" dt="2026-07-22T03:14:59.421" v="155" actId="478"/>
          <ac:spMkLst>
            <pc:docMk/>
            <pc:sldMk cId="0" sldId="265"/>
            <ac:spMk id="9" creationId="{00000000-0000-0000-0000-000000000000}"/>
          </ac:spMkLst>
        </pc:spChg>
        <pc:spChg chg="del">
          <ac:chgData name="HARSHIKA REDDY VALLETI" userId="1271b883438baa51" providerId="LiveId" clId="{18B159DF-7480-4112-B94E-E8B2F7CA0FBE}" dt="2026-07-22T03:15:13.594" v="161" actId="478"/>
          <ac:spMkLst>
            <pc:docMk/>
            <pc:sldMk cId="0" sldId="265"/>
            <ac:spMk id="10" creationId="{00000000-0000-0000-0000-000000000000}"/>
          </ac:spMkLst>
        </pc:spChg>
      </pc:sldChg>
      <pc:sldChg chg="ord">
        <pc:chgData name="HARSHIKA REDDY VALLETI" userId="1271b883438baa51" providerId="LiveId" clId="{18B159DF-7480-4112-B94E-E8B2F7CA0FBE}" dt="2026-07-22T03:17:41.939" v="179"/>
        <pc:sldMkLst>
          <pc:docMk/>
          <pc:sldMk cId="0"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21704" y="2450618"/>
            <a:ext cx="9110155" cy="3995152"/>
          </a:xfrm>
          <a:prstGeom prst="rect">
            <a:avLst/>
          </a:prstGeom>
        </p:spPr>
        <p:txBody>
          <a:bodyPr lIns="0" tIns="0" rIns="0" bIns="0" rtlCol="0" anchor="t">
            <a:spAutoFit/>
          </a:bodyPr>
          <a:lstStyle/>
          <a:p>
            <a:pPr marL="0" lvl="0" indent="0" algn="l">
              <a:lnSpc>
                <a:spcPts val="6106"/>
              </a:lnSpc>
            </a:pPr>
            <a:r>
              <a:rPr lang="en-US" sz="5356" b="1">
                <a:solidFill>
                  <a:srgbClr val="005FC2"/>
                </a:solidFill>
                <a:latin typeface="Neo Tech Bold"/>
                <a:ea typeface="Neo Tech Bold"/>
                <a:cs typeface="Neo Tech Bold"/>
                <a:sym typeface="Neo Tech Bold"/>
              </a:rPr>
              <a:t>AI-POWERED LEGAL RESEARCH ASSISTANT USING RETRIEVAL-AUGMENTED GENERATION (RAG)</a:t>
            </a:r>
          </a:p>
        </p:txBody>
      </p:sp>
      <p:sp>
        <p:nvSpPr>
          <p:cNvPr id="3" name="Freeform 3"/>
          <p:cNvSpPr/>
          <p:nvPr/>
        </p:nvSpPr>
        <p:spPr>
          <a:xfrm flipH="1">
            <a:off x="14400804" y="-3920707"/>
            <a:ext cx="7161170" cy="1023024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4921703" y="7148821"/>
            <a:ext cx="15739084" cy="884858"/>
          </a:xfrm>
          <a:prstGeom prst="rect">
            <a:avLst/>
          </a:prstGeom>
        </p:spPr>
        <p:txBody>
          <a:bodyPr lIns="0" tIns="0" rIns="0" bIns="0" rtlCol="0" anchor="t">
            <a:spAutoFit/>
          </a:bodyPr>
          <a:lstStyle/>
          <a:p>
            <a:pPr marL="0" lvl="0" indent="0" algn="l">
              <a:lnSpc>
                <a:spcPts val="2311"/>
              </a:lnSpc>
            </a:pPr>
            <a:r>
              <a:rPr lang="en-US" sz="2027" b="1" dirty="0">
                <a:solidFill>
                  <a:srgbClr val="005FC2"/>
                </a:solidFill>
                <a:latin typeface="Koho Bold"/>
                <a:ea typeface="Koho Bold"/>
                <a:cs typeface="Koho Bold"/>
                <a:sym typeface="Koho Bold"/>
              </a:rPr>
              <a:t>Submitted by V Harshika Reddy – ENG23AM0205</a:t>
            </a:r>
          </a:p>
          <a:p>
            <a:pPr marL="0" lvl="0" indent="0" algn="l">
              <a:lnSpc>
                <a:spcPts val="2311"/>
              </a:lnSpc>
            </a:pPr>
            <a:r>
              <a:rPr lang="en-US" sz="2027" b="1" dirty="0" err="1">
                <a:solidFill>
                  <a:srgbClr val="005FC2"/>
                </a:solidFill>
                <a:latin typeface="Koho Bold"/>
                <a:ea typeface="Koho Bold"/>
                <a:cs typeface="Koho Bold"/>
                <a:sym typeface="Koho Bold"/>
              </a:rPr>
              <a:t>B.Tech</a:t>
            </a:r>
            <a:r>
              <a:rPr lang="en-US" sz="2027" b="1" dirty="0">
                <a:solidFill>
                  <a:srgbClr val="005FC2"/>
                </a:solidFill>
                <a:latin typeface="Koho Bold"/>
                <a:ea typeface="Koho Bold"/>
                <a:cs typeface="Koho Bold"/>
                <a:sym typeface="Koho Bold"/>
              </a:rPr>
              <a:t> CSE (AI &amp; ML) | Guide:  Dr Bahubali</a:t>
            </a:r>
          </a:p>
          <a:p>
            <a:pPr marL="0" lvl="0" indent="0" algn="l">
              <a:lnSpc>
                <a:spcPts val="2311"/>
              </a:lnSpc>
            </a:pPr>
            <a:r>
              <a:rPr lang="en-US" sz="2027" b="1" dirty="0">
                <a:solidFill>
                  <a:srgbClr val="005FC2"/>
                </a:solidFill>
                <a:latin typeface="Koho Bold"/>
                <a:ea typeface="Koho Bold"/>
                <a:cs typeface="Koho Bold"/>
                <a:sym typeface="Koho Bold"/>
              </a:rPr>
              <a:t>RTD NVIDIA Bootcamp</a:t>
            </a:r>
          </a:p>
        </p:txBody>
      </p:sp>
      <p:sp>
        <p:nvSpPr>
          <p:cNvPr id="5" name="Freeform 5"/>
          <p:cNvSpPr/>
          <p:nvPr/>
        </p:nvSpPr>
        <p:spPr>
          <a:xfrm rot="-151067" flipV="1">
            <a:off x="-1812924" y="4400378"/>
            <a:ext cx="7161170" cy="10230243"/>
          </a:xfrm>
          <a:custGeom>
            <a:avLst/>
            <a:gdLst/>
            <a:ahLst/>
            <a:cxnLst/>
            <a:rect l="l" t="t" r="r" b="b"/>
            <a:pathLst>
              <a:path w="7161170" h="10230243">
                <a:moveTo>
                  <a:pt x="0" y="10230242"/>
                </a:moveTo>
                <a:lnTo>
                  <a:pt x="7161170" y="10230242"/>
                </a:lnTo>
                <a:lnTo>
                  <a:pt x="7161170" y="0"/>
                </a:lnTo>
                <a:lnTo>
                  <a:pt x="0" y="0"/>
                </a:lnTo>
                <a:lnTo>
                  <a:pt x="0" y="1023024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914400" y="-1843938"/>
            <a:ext cx="7793442" cy="4080930"/>
          </a:xfrm>
          <a:custGeom>
            <a:avLst/>
            <a:gdLst/>
            <a:ahLst/>
            <a:cxnLst/>
            <a:rect l="l" t="t" r="r" b="b"/>
            <a:pathLst>
              <a:path w="7793442" h="4080930">
                <a:moveTo>
                  <a:pt x="0" y="0"/>
                </a:moveTo>
                <a:lnTo>
                  <a:pt x="7793442" y="0"/>
                </a:lnTo>
                <a:lnTo>
                  <a:pt x="7793442" y="4080930"/>
                </a:lnTo>
                <a:lnTo>
                  <a:pt x="0" y="4080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1734800" y="8028236"/>
            <a:ext cx="7793442" cy="4080930"/>
          </a:xfrm>
          <a:custGeom>
            <a:avLst/>
            <a:gdLst/>
            <a:ahLst/>
            <a:cxnLst/>
            <a:rect l="l" t="t" r="r" b="b"/>
            <a:pathLst>
              <a:path w="7793442" h="4080930">
                <a:moveTo>
                  <a:pt x="0" y="0"/>
                </a:moveTo>
                <a:lnTo>
                  <a:pt x="7793442" y="0"/>
                </a:lnTo>
                <a:lnTo>
                  <a:pt x="7793442" y="4080930"/>
                </a:lnTo>
                <a:lnTo>
                  <a:pt x="0" y="4080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96575" y="1488837"/>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PROBLEM STATEMENT</a:t>
            </a:r>
          </a:p>
        </p:txBody>
      </p:sp>
      <p:sp>
        <p:nvSpPr>
          <p:cNvPr id="3" name="TextBox 3"/>
          <p:cNvSpPr txBox="1"/>
          <p:nvPr/>
        </p:nvSpPr>
        <p:spPr>
          <a:xfrm>
            <a:off x="5403738" y="3309309"/>
            <a:ext cx="8868773" cy="1992996"/>
          </a:xfrm>
          <a:prstGeom prst="rect">
            <a:avLst/>
          </a:prstGeom>
        </p:spPr>
        <p:txBody>
          <a:bodyPr lIns="0" tIns="0" rIns="0" bIns="0" rtlCol="0" anchor="t">
            <a:spAutoFit/>
          </a:bodyPr>
          <a:lstStyle/>
          <a:p>
            <a:pPr marL="0" lvl="0" indent="0" algn="just">
              <a:lnSpc>
                <a:spcPts val="3189"/>
              </a:lnSpc>
            </a:pPr>
            <a:r>
              <a:rPr lang="en-US" sz="2798">
                <a:solidFill>
                  <a:srgbClr val="005FC2"/>
                </a:solidFill>
                <a:latin typeface="Koho"/>
                <a:ea typeface="Koho"/>
                <a:cs typeface="Koho"/>
                <a:sym typeface="Koho"/>
              </a:rPr>
              <a:t>Legal research remains highly time-consuming due to lengthy statutes, constitutional provisions, and extensive case laws. Professionals and students spend hours manually searching through documents to find relevant precedents and applicable legal provisions.</a:t>
            </a:r>
          </a:p>
        </p:txBody>
      </p:sp>
      <p:sp>
        <p:nvSpPr>
          <p:cNvPr id="4" name="Freeform 4"/>
          <p:cNvSpPr/>
          <p:nvPr/>
        </p:nvSpPr>
        <p:spPr>
          <a:xfrm rot="-7720815">
            <a:off x="-5386022" y="56356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rot="-8367064" flipH="1">
            <a:off x="10341117" y="-1585888"/>
            <a:ext cx="13836366" cy="7245224"/>
          </a:xfrm>
          <a:custGeom>
            <a:avLst/>
            <a:gdLst/>
            <a:ahLst/>
            <a:cxnLst/>
            <a:rect l="l" t="t" r="r" b="b"/>
            <a:pathLst>
              <a:path w="13836366" h="7245224">
                <a:moveTo>
                  <a:pt x="13836366" y="0"/>
                </a:moveTo>
                <a:lnTo>
                  <a:pt x="0" y="0"/>
                </a:lnTo>
                <a:lnTo>
                  <a:pt x="0" y="7245225"/>
                </a:lnTo>
                <a:lnTo>
                  <a:pt x="13836366" y="7245225"/>
                </a:lnTo>
                <a:lnTo>
                  <a:pt x="1383636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4015489" y="4017828"/>
            <a:ext cx="947448" cy="947448"/>
          </a:xfrm>
          <a:custGeom>
            <a:avLst/>
            <a:gdLst/>
            <a:ahLst/>
            <a:cxnLst/>
            <a:rect l="l" t="t" r="r" b="b"/>
            <a:pathLst>
              <a:path w="947448" h="947448">
                <a:moveTo>
                  <a:pt x="0" y="0"/>
                </a:moveTo>
                <a:lnTo>
                  <a:pt x="947448" y="0"/>
                </a:lnTo>
                <a:lnTo>
                  <a:pt x="947448" y="947448"/>
                </a:lnTo>
                <a:lnTo>
                  <a:pt x="0" y="94744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5476496" y="6407220"/>
            <a:ext cx="8868773" cy="2393046"/>
          </a:xfrm>
          <a:prstGeom prst="rect">
            <a:avLst/>
          </a:prstGeom>
        </p:spPr>
        <p:txBody>
          <a:bodyPr lIns="0" tIns="0" rIns="0" bIns="0" rtlCol="0" anchor="t">
            <a:spAutoFit/>
          </a:bodyPr>
          <a:lstStyle/>
          <a:p>
            <a:pPr marL="0" lvl="0" indent="0" algn="just">
              <a:lnSpc>
                <a:spcPts val="3189"/>
              </a:lnSpc>
            </a:pPr>
            <a:r>
              <a:rPr lang="en-US" sz="2798">
                <a:solidFill>
                  <a:srgbClr val="005FC2"/>
                </a:solidFill>
                <a:latin typeface="Koho"/>
                <a:ea typeface="Koho"/>
                <a:cs typeface="Koho"/>
                <a:sym typeface="Koho"/>
              </a:rPr>
              <a:t>Traditional keyword-based search systems suffer from critical limitations: they retrieve many irrelevant documents, lack contextual understanding of legal queries, fail to rank results by legal relevance, and often miss jurisdiction-specific citations essential for valid legal arguments.</a:t>
            </a:r>
          </a:p>
        </p:txBody>
      </p:sp>
      <p:sp>
        <p:nvSpPr>
          <p:cNvPr id="8" name="Freeform 8"/>
          <p:cNvSpPr/>
          <p:nvPr/>
        </p:nvSpPr>
        <p:spPr>
          <a:xfrm>
            <a:off x="4088248" y="7115739"/>
            <a:ext cx="947448" cy="947448"/>
          </a:xfrm>
          <a:custGeom>
            <a:avLst/>
            <a:gdLst/>
            <a:ahLst/>
            <a:cxnLst/>
            <a:rect l="l" t="t" r="r" b="b"/>
            <a:pathLst>
              <a:path w="947448" h="947448">
                <a:moveTo>
                  <a:pt x="0" y="0"/>
                </a:moveTo>
                <a:lnTo>
                  <a:pt x="947448" y="0"/>
                </a:lnTo>
                <a:lnTo>
                  <a:pt x="947448" y="947448"/>
                </a:lnTo>
                <a:lnTo>
                  <a:pt x="0" y="94744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2" name="Freeform 2"/>
          <p:cNvSpPr/>
          <p:nvPr/>
        </p:nvSpPr>
        <p:spPr>
          <a:xfrm rot="-5400000">
            <a:off x="-7221231" y="15208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a:off x="12384810" y="2397377"/>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3670623" y="4420240"/>
            <a:ext cx="619787" cy="848032"/>
          </a:xfrm>
          <a:custGeom>
            <a:avLst/>
            <a:gdLst/>
            <a:ahLst/>
            <a:cxnLst/>
            <a:rect l="l" t="t" r="r" b="b"/>
            <a:pathLst>
              <a:path w="619787" h="848032">
                <a:moveTo>
                  <a:pt x="0" y="0"/>
                </a:moveTo>
                <a:lnTo>
                  <a:pt x="619788" y="0"/>
                </a:lnTo>
                <a:lnTo>
                  <a:pt x="619788" y="848032"/>
                </a:lnTo>
                <a:lnTo>
                  <a:pt x="0" y="848032"/>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4336389" y="1587629"/>
            <a:ext cx="9615222" cy="1238250"/>
          </a:xfrm>
          <a:prstGeom prst="rect">
            <a:avLst/>
          </a:prstGeom>
        </p:spPr>
        <p:txBody>
          <a:bodyPr lIns="0" tIns="0" rIns="0" bIns="0" rtlCol="0" anchor="t">
            <a:spAutoFit/>
          </a:bodyPr>
          <a:lstStyle/>
          <a:p>
            <a:pPr marL="0" lvl="0" indent="0" algn="ctr">
              <a:lnSpc>
                <a:spcPts val="8549"/>
              </a:lnSpc>
            </a:pPr>
            <a:r>
              <a:rPr lang="en-US" sz="7500" b="1">
                <a:solidFill>
                  <a:srgbClr val="FFFFFF"/>
                </a:solidFill>
                <a:latin typeface="Neo Tech Bold"/>
                <a:ea typeface="Neo Tech Bold"/>
                <a:cs typeface="Neo Tech Bold"/>
                <a:sym typeface="Neo Tech Bold"/>
              </a:rPr>
              <a:t>PROJECT OBJECTIVES</a:t>
            </a:r>
          </a:p>
        </p:txBody>
      </p:sp>
      <p:sp>
        <p:nvSpPr>
          <p:cNvPr id="6" name="TextBox 6"/>
          <p:cNvSpPr txBox="1"/>
          <p:nvPr/>
        </p:nvSpPr>
        <p:spPr>
          <a:xfrm>
            <a:off x="4813846" y="4315722"/>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Develop an AI-powered Legal Research Assistant tailored for the Indian legal system, enabling semantic search across statutes, case laws, and constitutional provisions.</a:t>
            </a:r>
          </a:p>
        </p:txBody>
      </p:sp>
      <p:sp>
        <p:nvSpPr>
          <p:cNvPr id="7" name="TextBox 7"/>
          <p:cNvSpPr txBox="1"/>
          <p:nvPr/>
        </p:nvSpPr>
        <p:spPr>
          <a:xfrm>
            <a:off x="4813846" y="5856350"/>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Retrieve relevant legal documents via semantic embeddings and rank results by contextual relevance using FAISS vector search and HuggingFace sentence transformers.</a:t>
            </a:r>
          </a:p>
        </p:txBody>
      </p:sp>
      <p:sp>
        <p:nvSpPr>
          <p:cNvPr id="8" name="TextBox 8"/>
          <p:cNvSpPr txBox="1"/>
          <p:nvPr/>
        </p:nvSpPr>
        <p:spPr>
          <a:xfrm>
            <a:off x="4813846" y="7401685"/>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Generate accurate, jurisdiction-filtered legal answers with precise citations to Acts, Sections, Articles, and landmark cases using Retrieval-Augmented Generation with NVIDIA Llama 3.1.</a:t>
            </a:r>
          </a:p>
        </p:txBody>
      </p:sp>
      <p:sp>
        <p:nvSpPr>
          <p:cNvPr id="9" name="Freeform 9"/>
          <p:cNvSpPr/>
          <p:nvPr/>
        </p:nvSpPr>
        <p:spPr>
          <a:xfrm>
            <a:off x="3540108" y="5947408"/>
            <a:ext cx="837057" cy="870194"/>
          </a:xfrm>
          <a:custGeom>
            <a:avLst/>
            <a:gdLst/>
            <a:ahLst/>
            <a:cxnLst/>
            <a:rect l="l" t="t" r="r" b="b"/>
            <a:pathLst>
              <a:path w="837057" h="870194">
                <a:moveTo>
                  <a:pt x="0" y="0"/>
                </a:moveTo>
                <a:lnTo>
                  <a:pt x="837057" y="0"/>
                </a:lnTo>
                <a:lnTo>
                  <a:pt x="837057" y="870194"/>
                </a:lnTo>
                <a:lnTo>
                  <a:pt x="0" y="870194"/>
                </a:lnTo>
                <a:lnTo>
                  <a:pt x="0" y="0"/>
                </a:lnTo>
                <a:close/>
              </a:path>
            </a:pathLst>
          </a:custGeom>
          <a:blipFill>
            <a:blip r:embed="rId4"/>
            <a:stretch>
              <a:fillRect/>
            </a:stretch>
          </a:blipFill>
        </p:spPr>
        <p:txBody>
          <a:bodyPr/>
          <a:lstStyle/>
          <a:p>
            <a:endParaRPr lang="en-US"/>
          </a:p>
        </p:txBody>
      </p:sp>
      <p:sp>
        <p:nvSpPr>
          <p:cNvPr id="10" name="Freeform 10"/>
          <p:cNvSpPr/>
          <p:nvPr/>
        </p:nvSpPr>
        <p:spPr>
          <a:xfrm>
            <a:off x="3675065" y="7612732"/>
            <a:ext cx="771939" cy="836267"/>
          </a:xfrm>
          <a:custGeom>
            <a:avLst/>
            <a:gdLst/>
            <a:ahLst/>
            <a:cxnLst/>
            <a:rect l="l" t="t" r="r" b="b"/>
            <a:pathLst>
              <a:path w="771939" h="836267">
                <a:moveTo>
                  <a:pt x="0" y="0"/>
                </a:moveTo>
                <a:lnTo>
                  <a:pt x="771939" y="0"/>
                </a:lnTo>
                <a:lnTo>
                  <a:pt x="771939" y="836267"/>
                </a:lnTo>
                <a:lnTo>
                  <a:pt x="0" y="836267"/>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96575" y="1488837"/>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EXISTING SYSTEM</a:t>
            </a:r>
          </a:p>
        </p:txBody>
      </p:sp>
      <p:sp>
        <p:nvSpPr>
          <p:cNvPr id="3" name="TextBox 3"/>
          <p:cNvSpPr txBox="1"/>
          <p:nvPr/>
        </p:nvSpPr>
        <p:spPr>
          <a:xfrm>
            <a:off x="5403738" y="3299784"/>
            <a:ext cx="8868773" cy="2399556"/>
          </a:xfrm>
          <a:prstGeom prst="rect">
            <a:avLst/>
          </a:prstGeom>
        </p:spPr>
        <p:txBody>
          <a:bodyPr lIns="0" tIns="0" rIns="0" bIns="0" rtlCol="0" anchor="t">
            <a:spAutoFit/>
          </a:bodyPr>
          <a:lstStyle/>
          <a:p>
            <a:pPr marL="0" lvl="0" indent="0" algn="just">
              <a:lnSpc>
                <a:spcPts val="2738"/>
              </a:lnSpc>
            </a:pPr>
            <a:r>
              <a:rPr lang="en-US" sz="2402">
                <a:solidFill>
                  <a:srgbClr val="005FC2"/>
                </a:solidFill>
                <a:latin typeface="Koho"/>
                <a:ea typeface="Koho"/>
                <a:cs typeface="Koho"/>
                <a:sym typeface="Koho"/>
              </a:rPr>
              <a:t>Current legal research tools rely on keyword-based search across large databases. Examples include Indian Kanoon, SCC Online, Manupatra, and general search engines like Google. Users must enter exact keywords, browse through extensive result lists, and manually read multiple judgments to find relevant information. This process is time-consuming and requires strong legal vocabulary to retrieve accurate results.</a:t>
            </a:r>
          </a:p>
        </p:txBody>
      </p:sp>
      <p:sp>
        <p:nvSpPr>
          <p:cNvPr id="4" name="Freeform 4"/>
          <p:cNvSpPr/>
          <p:nvPr/>
        </p:nvSpPr>
        <p:spPr>
          <a:xfrm rot="-7720815">
            <a:off x="-5386022" y="56356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rot="-8367064" flipH="1">
            <a:off x="10341117" y="-1585888"/>
            <a:ext cx="13836366" cy="7245224"/>
          </a:xfrm>
          <a:custGeom>
            <a:avLst/>
            <a:gdLst/>
            <a:ahLst/>
            <a:cxnLst/>
            <a:rect l="l" t="t" r="r" b="b"/>
            <a:pathLst>
              <a:path w="13836366" h="7245224">
                <a:moveTo>
                  <a:pt x="13836366" y="0"/>
                </a:moveTo>
                <a:lnTo>
                  <a:pt x="0" y="0"/>
                </a:lnTo>
                <a:lnTo>
                  <a:pt x="0" y="7245225"/>
                </a:lnTo>
                <a:lnTo>
                  <a:pt x="13836366" y="7245225"/>
                </a:lnTo>
                <a:lnTo>
                  <a:pt x="1383636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4019690" y="4139692"/>
            <a:ext cx="934245" cy="762922"/>
          </a:xfrm>
          <a:custGeom>
            <a:avLst/>
            <a:gdLst/>
            <a:ahLst/>
            <a:cxnLst/>
            <a:rect l="l" t="t" r="r" b="b"/>
            <a:pathLst>
              <a:path w="934245" h="762922">
                <a:moveTo>
                  <a:pt x="0" y="0"/>
                </a:moveTo>
                <a:lnTo>
                  <a:pt x="934245" y="0"/>
                </a:lnTo>
                <a:lnTo>
                  <a:pt x="934245" y="762922"/>
                </a:lnTo>
                <a:lnTo>
                  <a:pt x="0" y="762922"/>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5476496" y="6397695"/>
            <a:ext cx="8868773" cy="1713756"/>
          </a:xfrm>
          <a:prstGeom prst="rect">
            <a:avLst/>
          </a:prstGeom>
        </p:spPr>
        <p:txBody>
          <a:bodyPr lIns="0" tIns="0" rIns="0" bIns="0" rtlCol="0" anchor="t">
            <a:spAutoFit/>
          </a:bodyPr>
          <a:lstStyle/>
          <a:p>
            <a:pPr marL="0" lvl="0" indent="0" algn="just">
              <a:lnSpc>
                <a:spcPts val="2738"/>
              </a:lnSpc>
            </a:pPr>
            <a:r>
              <a:rPr lang="en-US" sz="2402">
                <a:solidFill>
                  <a:srgbClr val="005FC2"/>
                </a:solidFill>
                <a:latin typeface="Koho"/>
                <a:ea typeface="Koho"/>
                <a:cs typeface="Koho"/>
                <a:sym typeface="Koho"/>
              </a:rPr>
              <a:t>Key limitations: no conversational interface for natural language queries; limited semantic understanding of legal context; users must independently interpret complex legal language; no context-aware ranking of results; and retrieval of irrelevant or excessive documents due to rigid keyword matching.</a:t>
            </a:r>
          </a:p>
        </p:txBody>
      </p:sp>
      <p:sp>
        <p:nvSpPr>
          <p:cNvPr id="8" name="Freeform 8"/>
          <p:cNvSpPr/>
          <p:nvPr/>
        </p:nvSpPr>
        <p:spPr>
          <a:xfrm>
            <a:off x="4087446" y="7140047"/>
            <a:ext cx="949259" cy="870945"/>
          </a:xfrm>
          <a:custGeom>
            <a:avLst/>
            <a:gdLst/>
            <a:ahLst/>
            <a:cxnLst/>
            <a:rect l="l" t="t" r="r" b="b"/>
            <a:pathLst>
              <a:path w="949259" h="870945">
                <a:moveTo>
                  <a:pt x="0" y="0"/>
                </a:moveTo>
                <a:lnTo>
                  <a:pt x="949259" y="0"/>
                </a:lnTo>
                <a:lnTo>
                  <a:pt x="949259" y="870945"/>
                </a:lnTo>
                <a:lnTo>
                  <a:pt x="0" y="870945"/>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2" name="Freeform 2"/>
          <p:cNvSpPr/>
          <p:nvPr/>
        </p:nvSpPr>
        <p:spPr>
          <a:xfrm rot="-5400000">
            <a:off x="-6918183" y="5888904"/>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Freeform 7"/>
          <p:cNvSpPr/>
          <p:nvPr/>
        </p:nvSpPr>
        <p:spPr>
          <a:xfrm>
            <a:off x="1829272" y="3519317"/>
            <a:ext cx="679170" cy="679170"/>
          </a:xfrm>
          <a:custGeom>
            <a:avLst/>
            <a:gdLst/>
            <a:ahLst/>
            <a:cxnLst/>
            <a:rect l="l" t="t" r="r" b="b"/>
            <a:pathLst>
              <a:path w="679170" h="679170">
                <a:moveTo>
                  <a:pt x="0" y="0"/>
                </a:moveTo>
                <a:lnTo>
                  <a:pt x="679170" y="0"/>
                </a:lnTo>
                <a:lnTo>
                  <a:pt x="679170" y="679170"/>
                </a:lnTo>
                <a:lnTo>
                  <a:pt x="0" y="6791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829272" y="5478561"/>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829272" y="7433472"/>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1829272" y="1355083"/>
            <a:ext cx="10894849" cy="1238210"/>
          </a:xfrm>
          <a:prstGeom prst="rect">
            <a:avLst/>
          </a:prstGeom>
        </p:spPr>
        <p:txBody>
          <a:bodyPr lIns="0" tIns="0" rIns="0" bIns="0" rtlCol="0" anchor="t">
            <a:spAutoFit/>
          </a:bodyPr>
          <a:lstStyle/>
          <a:p>
            <a:pPr marL="0" lvl="0" indent="0" algn="l">
              <a:lnSpc>
                <a:spcPts val="8543"/>
              </a:lnSpc>
            </a:pPr>
            <a:r>
              <a:rPr lang="en-US" sz="7494" b="1" dirty="0">
                <a:solidFill>
                  <a:srgbClr val="FFFFFF"/>
                </a:solidFill>
                <a:latin typeface="Neo Tech Bold"/>
                <a:ea typeface="Neo Tech Bold"/>
                <a:cs typeface="Neo Tech Bold"/>
                <a:sym typeface="Neo Tech Bold"/>
              </a:rPr>
              <a:t>LITERATURE SURVEY</a:t>
            </a:r>
          </a:p>
        </p:txBody>
      </p:sp>
      <p:sp>
        <p:nvSpPr>
          <p:cNvPr id="11" name="TextBox 11"/>
          <p:cNvSpPr txBox="1"/>
          <p:nvPr/>
        </p:nvSpPr>
        <p:spPr>
          <a:xfrm>
            <a:off x="2895628" y="3057659"/>
            <a:ext cx="12649172" cy="1496021"/>
          </a:xfrm>
          <a:prstGeom prst="rect">
            <a:avLst/>
          </a:prstGeom>
        </p:spPr>
        <p:txBody>
          <a:bodyPr wrap="square" lIns="0" tIns="0" rIns="0" bIns="0" rtlCol="0" anchor="t">
            <a:spAutoFit/>
          </a:bodyPr>
          <a:lstStyle/>
          <a:p>
            <a:pPr marL="0" lvl="0" indent="0" algn="just">
              <a:lnSpc>
                <a:spcPts val="2939"/>
              </a:lnSpc>
            </a:pPr>
            <a:r>
              <a:rPr lang="en-US" sz="2578" dirty="0">
                <a:solidFill>
                  <a:srgbClr val="FFFFFF"/>
                </a:solidFill>
                <a:latin typeface="Koho"/>
                <a:ea typeface="Koho"/>
                <a:cs typeface="Koho"/>
                <a:sym typeface="Koho"/>
              </a:rPr>
              <a:t>Lewis et al. (2020) introduced Retrieval-Augmented Generation (RAG), a general-purpose framework combining retrieval with language generation. While effective for open-domain QA, it lacks domain-specific legal knowledge integration and jurisdiction-aware citation handling.</a:t>
            </a:r>
          </a:p>
        </p:txBody>
      </p:sp>
      <p:sp>
        <p:nvSpPr>
          <p:cNvPr id="12" name="TextBox 12"/>
          <p:cNvSpPr txBox="1"/>
          <p:nvPr/>
        </p:nvSpPr>
        <p:spPr>
          <a:xfrm>
            <a:off x="2895628" y="5016902"/>
            <a:ext cx="12649172" cy="1115690"/>
          </a:xfrm>
          <a:prstGeom prst="rect">
            <a:avLst/>
          </a:prstGeom>
        </p:spPr>
        <p:txBody>
          <a:bodyPr wrap="square" lIns="0" tIns="0" rIns="0" bIns="0" rtlCol="0" anchor="t">
            <a:spAutoFit/>
          </a:bodyPr>
          <a:lstStyle/>
          <a:p>
            <a:pPr marL="0" lvl="0" indent="0" algn="just">
              <a:lnSpc>
                <a:spcPts val="2939"/>
              </a:lnSpc>
            </a:pPr>
            <a:r>
              <a:rPr lang="en-US" sz="2578" dirty="0">
                <a:solidFill>
                  <a:srgbClr val="FFFFFF"/>
                </a:solidFill>
                <a:latin typeface="Koho"/>
                <a:ea typeface="Koho"/>
                <a:cs typeface="Koho"/>
                <a:sym typeface="Koho"/>
              </a:rPr>
              <a:t>Devlin et al. (2019) proposed BERT for deep contextual understanding of text. However, BERT is not designed for retrieval-based question answering and cannot generate explanatory legal responses with verified citations.</a:t>
            </a:r>
          </a:p>
        </p:txBody>
      </p:sp>
      <p:sp>
        <p:nvSpPr>
          <p:cNvPr id="13" name="TextBox 13"/>
          <p:cNvSpPr txBox="1"/>
          <p:nvPr/>
        </p:nvSpPr>
        <p:spPr>
          <a:xfrm>
            <a:off x="2895628" y="6971813"/>
            <a:ext cx="12572972" cy="1496021"/>
          </a:xfrm>
          <a:prstGeom prst="rect">
            <a:avLst/>
          </a:prstGeom>
        </p:spPr>
        <p:txBody>
          <a:bodyPr wrap="square" lIns="0" tIns="0" rIns="0" bIns="0" rtlCol="0" anchor="t">
            <a:spAutoFit/>
          </a:bodyPr>
          <a:lstStyle/>
          <a:p>
            <a:pPr marL="0" lvl="0" indent="0" algn="just">
              <a:lnSpc>
                <a:spcPts val="2939"/>
              </a:lnSpc>
            </a:pPr>
            <a:r>
              <a:rPr lang="en-US" sz="2578" dirty="0">
                <a:solidFill>
                  <a:srgbClr val="FFFFFF"/>
                </a:solidFill>
                <a:latin typeface="Koho"/>
                <a:ea typeface="Koho"/>
                <a:cs typeface="Koho"/>
                <a:sym typeface="Koho"/>
              </a:rPr>
              <a:t>Research Gap: Current systems either retrieve legal documents without explanation or generate ungrounded responses prone to hallucination. Our system bridges this gap by combining semantic retrieval with grounded generation for accurate, citation-backed legal answers.</a:t>
            </a:r>
          </a:p>
        </p:txBody>
      </p:sp>
      <p:sp>
        <p:nvSpPr>
          <p:cNvPr id="14" name="Freeform 14"/>
          <p:cNvSpPr/>
          <p:nvPr/>
        </p:nvSpPr>
        <p:spPr>
          <a:xfrm>
            <a:off x="10058400" y="-4651931"/>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2" name="Freeform 2"/>
          <p:cNvSpPr/>
          <p:nvPr/>
        </p:nvSpPr>
        <p:spPr>
          <a:xfrm rot="-5400000">
            <a:off x="-7221231" y="15208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a:off x="12384810" y="2397377"/>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3605314" y="4479361"/>
            <a:ext cx="837057" cy="837057"/>
          </a:xfrm>
          <a:custGeom>
            <a:avLst/>
            <a:gdLst/>
            <a:ahLst/>
            <a:cxnLst/>
            <a:rect l="l" t="t" r="r" b="b"/>
            <a:pathLst>
              <a:path w="837057" h="837057">
                <a:moveTo>
                  <a:pt x="0" y="0"/>
                </a:moveTo>
                <a:lnTo>
                  <a:pt x="837057" y="0"/>
                </a:lnTo>
                <a:lnTo>
                  <a:pt x="837057" y="837057"/>
                </a:lnTo>
                <a:lnTo>
                  <a:pt x="0" y="837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4336389" y="1587629"/>
            <a:ext cx="9615222" cy="1238250"/>
          </a:xfrm>
          <a:prstGeom prst="rect">
            <a:avLst/>
          </a:prstGeom>
        </p:spPr>
        <p:txBody>
          <a:bodyPr lIns="0" tIns="0" rIns="0" bIns="0" rtlCol="0" anchor="t">
            <a:spAutoFit/>
          </a:bodyPr>
          <a:lstStyle/>
          <a:p>
            <a:pPr marL="0" lvl="0" indent="0" algn="ctr">
              <a:lnSpc>
                <a:spcPts val="8549"/>
              </a:lnSpc>
            </a:pPr>
            <a:r>
              <a:rPr lang="en-US" sz="7500" b="1">
                <a:solidFill>
                  <a:srgbClr val="FFFFFF"/>
                </a:solidFill>
                <a:latin typeface="Neo Tech Bold"/>
                <a:ea typeface="Neo Tech Bold"/>
                <a:cs typeface="Neo Tech Bold"/>
                <a:sym typeface="Neo Tech Bold"/>
              </a:rPr>
              <a:t>PROPOSED SYSTEM</a:t>
            </a:r>
          </a:p>
        </p:txBody>
      </p:sp>
      <p:sp>
        <p:nvSpPr>
          <p:cNvPr id="6" name="TextBox 6"/>
          <p:cNvSpPr txBox="1"/>
          <p:nvPr/>
        </p:nvSpPr>
        <p:spPr>
          <a:xfrm>
            <a:off x="4813846" y="4315722"/>
            <a:ext cx="10580784" cy="1192911"/>
          </a:xfrm>
          <a:prstGeom prst="rect">
            <a:avLst/>
          </a:prstGeom>
        </p:spPr>
        <p:txBody>
          <a:bodyPr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Components: Legal Knowledge Base, Semantic Embeddings, FAISS Vector Database, Retrieval-Augmented Generation (RAG), and NVIDIA Llama Large Language Model</a:t>
            </a:r>
          </a:p>
        </p:txBody>
      </p:sp>
      <p:sp>
        <p:nvSpPr>
          <p:cNvPr id="7" name="TextBox 7"/>
          <p:cNvSpPr txBox="1"/>
          <p:nvPr/>
        </p:nvSpPr>
        <p:spPr>
          <a:xfrm>
            <a:off x="4813846" y="5856350"/>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Features: Natural language legal queries, context-aware retrieval, and jurisdiction-specific answers with relevant Acts, Sections, Landmark Cases, and source citations</a:t>
            </a:r>
          </a:p>
        </p:txBody>
      </p:sp>
      <p:sp>
        <p:nvSpPr>
          <p:cNvPr id="8" name="TextBox 8"/>
          <p:cNvSpPr txBox="1"/>
          <p:nvPr/>
        </p:nvSpPr>
        <p:spPr>
          <a:xfrm>
            <a:off x="4813846" y="7401685"/>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Combines semantic search with grounded generation to deliver accurate, cited legal responses while minimizing hallucination through retrieval-augmented architecture</a:t>
            </a:r>
          </a:p>
        </p:txBody>
      </p:sp>
      <p:sp>
        <p:nvSpPr>
          <p:cNvPr id="9" name="Freeform 9"/>
          <p:cNvSpPr/>
          <p:nvPr/>
        </p:nvSpPr>
        <p:spPr>
          <a:xfrm>
            <a:off x="3605314" y="6019989"/>
            <a:ext cx="837057" cy="837057"/>
          </a:xfrm>
          <a:custGeom>
            <a:avLst/>
            <a:gdLst/>
            <a:ahLst/>
            <a:cxnLst/>
            <a:rect l="l" t="t" r="r" b="b"/>
            <a:pathLst>
              <a:path w="837057" h="837057">
                <a:moveTo>
                  <a:pt x="0" y="0"/>
                </a:moveTo>
                <a:lnTo>
                  <a:pt x="837057" y="0"/>
                </a:lnTo>
                <a:lnTo>
                  <a:pt x="837057" y="837057"/>
                </a:lnTo>
                <a:lnTo>
                  <a:pt x="0" y="837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3689881" y="7657146"/>
            <a:ext cx="837057" cy="837057"/>
          </a:xfrm>
          <a:custGeom>
            <a:avLst/>
            <a:gdLst/>
            <a:ahLst/>
            <a:cxnLst/>
            <a:rect l="l" t="t" r="r" b="b"/>
            <a:pathLst>
              <a:path w="837057" h="837057">
                <a:moveTo>
                  <a:pt x="0" y="0"/>
                </a:moveTo>
                <a:lnTo>
                  <a:pt x="837057" y="0"/>
                </a:lnTo>
                <a:lnTo>
                  <a:pt x="837057" y="837057"/>
                </a:lnTo>
                <a:lnTo>
                  <a:pt x="0" y="837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6191171" y="1123871"/>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5334000" y="761809"/>
            <a:ext cx="10894849" cy="1097979"/>
          </a:xfrm>
          <a:prstGeom prst="rect">
            <a:avLst/>
          </a:prstGeom>
        </p:spPr>
        <p:txBody>
          <a:bodyPr lIns="0" tIns="0" rIns="0" bIns="0" rtlCol="0" anchor="t">
            <a:spAutoFit/>
          </a:bodyPr>
          <a:lstStyle/>
          <a:p>
            <a:pPr marL="0" lvl="0" indent="0" algn="l">
              <a:lnSpc>
                <a:spcPts val="7514"/>
              </a:lnSpc>
            </a:pPr>
            <a:r>
              <a:rPr lang="en-US" sz="6591" b="1" dirty="0">
                <a:solidFill>
                  <a:srgbClr val="005FC2"/>
                </a:solidFill>
                <a:latin typeface="Neo Tech Bold"/>
                <a:ea typeface="Neo Tech Bold"/>
                <a:cs typeface="Neo Tech Bold"/>
                <a:sym typeface="Neo Tech Bold"/>
              </a:rPr>
              <a:t>PROPOSED METHODOLOGY</a:t>
            </a:r>
          </a:p>
        </p:txBody>
      </p:sp>
      <p:sp>
        <p:nvSpPr>
          <p:cNvPr id="5" name="TextBox 5"/>
          <p:cNvSpPr txBox="1"/>
          <p:nvPr/>
        </p:nvSpPr>
        <p:spPr>
          <a:xfrm>
            <a:off x="4724400" y="2482863"/>
            <a:ext cx="6552437" cy="6463308"/>
          </a:xfrm>
          <a:prstGeom prst="rect">
            <a:avLst/>
          </a:prstGeom>
        </p:spPr>
        <p:txBody>
          <a:bodyPr lIns="0" tIns="0" rIns="0" bIns="0" rtlCol="0" anchor="t">
            <a:spAutoFit/>
          </a:bodyPr>
          <a:lstStyle/>
          <a:p>
            <a:pPr marL="0" lvl="0" indent="0" algn="l">
              <a:lnSpc>
                <a:spcPts val="2371"/>
              </a:lnSpc>
            </a:pPr>
            <a:r>
              <a:rPr lang="en-US" sz="2400" dirty="0">
                <a:solidFill>
                  <a:srgbClr val="005FC2"/>
                </a:solidFill>
                <a:latin typeface="Koho"/>
                <a:ea typeface="Koho"/>
                <a:cs typeface="Koho"/>
                <a:sym typeface="Koho"/>
              </a:rPr>
              <a:t>Technical Workflow:</a:t>
            </a:r>
          </a:p>
          <a:p>
            <a:pPr marL="449044" lvl="1" indent="-224522" algn="l">
              <a:lnSpc>
                <a:spcPts val="2371"/>
              </a:lnSpc>
              <a:buAutoNum type="arabicPeriod"/>
            </a:pPr>
            <a:r>
              <a:rPr lang="en-US" sz="2400" dirty="0">
                <a:solidFill>
                  <a:srgbClr val="005FC2"/>
                </a:solidFill>
                <a:latin typeface="Koho"/>
                <a:ea typeface="Koho"/>
                <a:cs typeface="Koho"/>
                <a:sym typeface="Koho"/>
              </a:rPr>
              <a:t>User submits a natural language legal question</a:t>
            </a:r>
          </a:p>
          <a:p>
            <a:pPr marL="449044" lvl="1" indent="-224522" algn="l">
              <a:lnSpc>
                <a:spcPts val="2371"/>
              </a:lnSpc>
              <a:buAutoNum type="arabicPeriod"/>
            </a:pPr>
            <a:r>
              <a:rPr lang="en-US" sz="2400" dirty="0">
                <a:solidFill>
                  <a:srgbClr val="005FC2"/>
                </a:solidFill>
                <a:latin typeface="Koho"/>
                <a:ea typeface="Koho"/>
                <a:cs typeface="Koho"/>
                <a:sym typeface="Koho"/>
              </a:rPr>
              <a:t>Question is converted to sentence embeddings via </a:t>
            </a:r>
            <a:r>
              <a:rPr lang="en-US" sz="2400" dirty="0" err="1">
                <a:solidFill>
                  <a:srgbClr val="005FC2"/>
                </a:solidFill>
                <a:latin typeface="Koho"/>
                <a:ea typeface="Koho"/>
                <a:cs typeface="Koho"/>
                <a:sym typeface="Koho"/>
              </a:rPr>
              <a:t>HuggingFace</a:t>
            </a:r>
            <a:endParaRPr lang="en-US" sz="2400" dirty="0">
              <a:solidFill>
                <a:srgbClr val="005FC2"/>
              </a:solidFill>
              <a:latin typeface="Koho"/>
              <a:ea typeface="Koho"/>
              <a:cs typeface="Koho"/>
              <a:sym typeface="Koho"/>
            </a:endParaRPr>
          </a:p>
          <a:p>
            <a:pPr marL="449044" lvl="1" indent="-224522" algn="l">
              <a:lnSpc>
                <a:spcPts val="2371"/>
              </a:lnSpc>
              <a:buAutoNum type="arabicPeriod"/>
            </a:pPr>
            <a:r>
              <a:rPr lang="en-US" sz="2400" dirty="0">
                <a:solidFill>
                  <a:srgbClr val="005FC2"/>
                </a:solidFill>
                <a:latin typeface="Koho"/>
                <a:ea typeface="Koho"/>
                <a:cs typeface="Koho"/>
                <a:sym typeface="Koho"/>
              </a:rPr>
              <a:t>FAISS vector search retrieves top-k relevant legal chunks</a:t>
            </a:r>
          </a:p>
          <a:p>
            <a:pPr marL="449044" lvl="1" indent="-224522" algn="l">
              <a:lnSpc>
                <a:spcPts val="2371"/>
              </a:lnSpc>
              <a:buAutoNum type="arabicPeriod"/>
            </a:pPr>
            <a:r>
              <a:rPr lang="en-US" sz="2400" dirty="0">
                <a:solidFill>
                  <a:srgbClr val="005FC2"/>
                </a:solidFill>
                <a:latin typeface="Koho"/>
                <a:ea typeface="Koho"/>
                <a:cs typeface="Koho"/>
                <a:sym typeface="Koho"/>
              </a:rPr>
              <a:t>Retrieved chunks are fed into NVIDIA Llama 3.1 LLM</a:t>
            </a:r>
          </a:p>
          <a:p>
            <a:pPr marL="449044" lvl="1" indent="-224522" algn="l">
              <a:lnSpc>
                <a:spcPts val="2371"/>
              </a:lnSpc>
              <a:buAutoNum type="arabicPeriod"/>
            </a:pPr>
            <a:r>
              <a:rPr lang="en-US" sz="2400" dirty="0">
                <a:solidFill>
                  <a:srgbClr val="005FC2"/>
                </a:solidFill>
                <a:latin typeface="Koho"/>
                <a:ea typeface="Koho"/>
                <a:cs typeface="Koho"/>
                <a:sym typeface="Koho"/>
              </a:rPr>
              <a:t>RAG pipeline generates grounded legal answers with citations</a:t>
            </a:r>
          </a:p>
          <a:p>
            <a:pPr marL="449044" lvl="1" indent="-224522" algn="l">
              <a:lnSpc>
                <a:spcPts val="2371"/>
              </a:lnSpc>
              <a:buAutoNum type="arabicPeriod"/>
            </a:pPr>
            <a:r>
              <a:rPr lang="en-US" sz="2400" dirty="0">
                <a:solidFill>
                  <a:srgbClr val="005FC2"/>
                </a:solidFill>
                <a:latin typeface="Koho"/>
                <a:ea typeface="Koho"/>
                <a:cs typeface="Koho"/>
                <a:sym typeface="Koho"/>
              </a:rPr>
              <a:t>Output includes relevant Acts, Sections, and Landmark Cases</a:t>
            </a:r>
          </a:p>
          <a:p>
            <a:pPr marL="0" lvl="0" indent="0" algn="l">
              <a:lnSpc>
                <a:spcPts val="2371"/>
              </a:lnSpc>
            </a:pPr>
            <a:r>
              <a:rPr lang="en-US" sz="2400" dirty="0">
                <a:solidFill>
                  <a:srgbClr val="005FC2"/>
                </a:solidFill>
                <a:latin typeface="Koho"/>
                <a:ea typeface="Koho"/>
                <a:cs typeface="Koho"/>
                <a:sym typeface="Koho"/>
              </a:rPr>
              <a:t>Technologies Used:</a:t>
            </a:r>
          </a:p>
          <a:p>
            <a:pPr marL="0" lvl="0" indent="0" algn="l">
              <a:lnSpc>
                <a:spcPts val="2371"/>
              </a:lnSpc>
            </a:pPr>
            <a:r>
              <a:rPr lang="en-US" sz="2400" dirty="0">
                <a:solidFill>
                  <a:srgbClr val="005FC2"/>
                </a:solidFill>
                <a:latin typeface="Koho"/>
                <a:ea typeface="Koho"/>
                <a:cs typeface="Koho"/>
                <a:sym typeface="Koho"/>
              </a:rPr>
              <a:t>• Python, </a:t>
            </a:r>
            <a:r>
              <a:rPr lang="en-US" sz="2400" dirty="0" err="1">
                <a:solidFill>
                  <a:srgbClr val="005FC2"/>
                </a:solidFill>
                <a:latin typeface="Koho"/>
                <a:ea typeface="Koho"/>
                <a:cs typeface="Koho"/>
                <a:sym typeface="Koho"/>
              </a:rPr>
              <a:t>Streamlit</a:t>
            </a:r>
            <a:r>
              <a:rPr lang="en-US" sz="2400" dirty="0">
                <a:solidFill>
                  <a:srgbClr val="005FC2"/>
                </a:solidFill>
                <a:latin typeface="Koho"/>
                <a:ea typeface="Koho"/>
                <a:cs typeface="Koho"/>
                <a:sym typeface="Koho"/>
              </a:rPr>
              <a:t> (UI framework)</a:t>
            </a:r>
          </a:p>
          <a:p>
            <a:pPr marL="0" lvl="0" indent="0" algn="l">
              <a:lnSpc>
                <a:spcPts val="2371"/>
              </a:lnSpc>
            </a:pPr>
            <a:r>
              <a:rPr lang="en-US" sz="2400" dirty="0">
                <a:solidFill>
                  <a:srgbClr val="005FC2"/>
                </a:solidFill>
                <a:latin typeface="Koho"/>
                <a:ea typeface="Koho"/>
                <a:cs typeface="Koho"/>
                <a:sym typeface="Koho"/>
              </a:rPr>
              <a:t>• </a:t>
            </a:r>
            <a:r>
              <a:rPr lang="en-US" sz="2400" dirty="0" err="1">
                <a:solidFill>
                  <a:srgbClr val="005FC2"/>
                </a:solidFill>
                <a:latin typeface="Koho"/>
                <a:ea typeface="Koho"/>
                <a:cs typeface="Koho"/>
                <a:sym typeface="Koho"/>
              </a:rPr>
              <a:t>LangChain</a:t>
            </a:r>
            <a:r>
              <a:rPr lang="en-US" sz="2400" dirty="0">
                <a:solidFill>
                  <a:srgbClr val="005FC2"/>
                </a:solidFill>
                <a:latin typeface="Koho"/>
                <a:ea typeface="Koho"/>
                <a:cs typeface="Koho"/>
                <a:sym typeface="Koho"/>
              </a:rPr>
              <a:t> (orchestration framework)</a:t>
            </a:r>
          </a:p>
          <a:p>
            <a:pPr marL="0" lvl="0" indent="0" algn="l">
              <a:lnSpc>
                <a:spcPts val="2371"/>
              </a:lnSpc>
            </a:pPr>
            <a:r>
              <a:rPr lang="en-US" sz="2400" dirty="0">
                <a:solidFill>
                  <a:srgbClr val="005FC2"/>
                </a:solidFill>
                <a:latin typeface="Koho"/>
                <a:ea typeface="Koho"/>
                <a:cs typeface="Koho"/>
                <a:sym typeface="Koho"/>
              </a:rPr>
              <a:t>• </a:t>
            </a:r>
            <a:r>
              <a:rPr lang="en-US" sz="2400" dirty="0" err="1">
                <a:solidFill>
                  <a:srgbClr val="005FC2"/>
                </a:solidFill>
                <a:latin typeface="Koho"/>
                <a:ea typeface="Koho"/>
                <a:cs typeface="Koho"/>
                <a:sym typeface="Koho"/>
              </a:rPr>
              <a:t>HuggingFace</a:t>
            </a:r>
            <a:r>
              <a:rPr lang="en-US" sz="2400" dirty="0">
                <a:solidFill>
                  <a:srgbClr val="005FC2"/>
                </a:solidFill>
                <a:latin typeface="Koho"/>
                <a:ea typeface="Koho"/>
                <a:cs typeface="Koho"/>
                <a:sym typeface="Koho"/>
              </a:rPr>
              <a:t> Embeddings (semantic representation)</a:t>
            </a:r>
          </a:p>
          <a:p>
            <a:pPr marL="0" lvl="0" indent="0" algn="l">
              <a:lnSpc>
                <a:spcPts val="2371"/>
              </a:lnSpc>
            </a:pPr>
            <a:r>
              <a:rPr lang="en-US" sz="2400" dirty="0">
                <a:solidFill>
                  <a:srgbClr val="005FC2"/>
                </a:solidFill>
                <a:latin typeface="Koho"/>
                <a:ea typeface="Koho"/>
                <a:cs typeface="Koho"/>
                <a:sym typeface="Koho"/>
              </a:rPr>
              <a:t>• FAISS (vector similarity search)</a:t>
            </a:r>
          </a:p>
          <a:p>
            <a:pPr marL="0" lvl="0" indent="0" algn="l">
              <a:lnSpc>
                <a:spcPts val="2371"/>
              </a:lnSpc>
            </a:pPr>
            <a:r>
              <a:rPr lang="en-US" sz="2400" dirty="0">
                <a:solidFill>
                  <a:srgbClr val="005FC2"/>
                </a:solidFill>
                <a:latin typeface="Koho"/>
                <a:ea typeface="Koho"/>
                <a:cs typeface="Koho"/>
                <a:sym typeface="Koho"/>
              </a:rPr>
              <a:t>• NVIDIA API + Llama 3.1 (generative LLM)</a:t>
            </a:r>
          </a:p>
          <a:p>
            <a:pPr marL="0" lvl="0" indent="0" algn="l">
              <a:lnSpc>
                <a:spcPts val="2371"/>
              </a:lnSpc>
            </a:pPr>
            <a:r>
              <a:rPr lang="en-US" sz="2400" dirty="0">
                <a:solidFill>
                  <a:srgbClr val="005FC2"/>
                </a:solidFill>
                <a:latin typeface="Koho"/>
                <a:ea typeface="Koho"/>
                <a:cs typeface="Koho"/>
                <a:sym typeface="Koho"/>
              </a:rPr>
              <a:t>• Retrieval-Augmented Generation (RAG)</a:t>
            </a:r>
          </a:p>
        </p:txBody>
      </p:sp>
      <p:pic>
        <p:nvPicPr>
          <p:cNvPr id="7" name="Picture 6">
            <a:extLst>
              <a:ext uri="{FF2B5EF4-FFF2-40B4-BE49-F238E27FC236}">
                <a16:creationId xmlns:a16="http://schemas.microsoft.com/office/drawing/2014/main" id="{E1D82C47-8D1E-8A34-8F34-591BCD0F5D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9094" y="1859789"/>
            <a:ext cx="4737934" cy="77897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grpSp>
        <p:nvGrpSpPr>
          <p:cNvPr id="2" name="Group 2"/>
          <p:cNvGrpSpPr/>
          <p:nvPr/>
        </p:nvGrpSpPr>
        <p:grpSpPr>
          <a:xfrm>
            <a:off x="1477819" y="3848100"/>
            <a:ext cx="10894849" cy="4698362"/>
            <a:chOff x="0" y="0"/>
            <a:chExt cx="971835" cy="419100"/>
          </a:xfrm>
        </p:grpSpPr>
        <p:sp>
          <p:nvSpPr>
            <p:cNvPr id="3" name="Freeform 3"/>
            <p:cNvSpPr/>
            <p:nvPr/>
          </p:nvSpPr>
          <p:spPr>
            <a:xfrm>
              <a:off x="0" y="0"/>
              <a:ext cx="971835" cy="419100"/>
            </a:xfrm>
            <a:custGeom>
              <a:avLst/>
              <a:gdLst/>
              <a:ahLst/>
              <a:cxnLst/>
              <a:rect l="l" t="t" r="r" b="b"/>
              <a:pathLst>
                <a:path w="971835" h="419100">
                  <a:moveTo>
                    <a:pt x="0" y="0"/>
                  </a:moveTo>
                  <a:lnTo>
                    <a:pt x="971835" y="0"/>
                  </a:lnTo>
                  <a:lnTo>
                    <a:pt x="971835" y="419100"/>
                  </a:lnTo>
                  <a:lnTo>
                    <a:pt x="0" y="419100"/>
                  </a:lnTo>
                  <a:close/>
                </a:path>
              </a:pathLst>
            </a:custGeom>
            <a:solidFill>
              <a:srgbClr val="005FC2"/>
            </a:solidFill>
          </p:spPr>
          <p:txBody>
            <a:bodyPr/>
            <a:lstStyle/>
            <a:p>
              <a:endParaRPr lang="en-US"/>
            </a:p>
          </p:txBody>
        </p:sp>
        <p:sp>
          <p:nvSpPr>
            <p:cNvPr id="4" name="TextBox 4"/>
            <p:cNvSpPr txBox="1"/>
            <p:nvPr/>
          </p:nvSpPr>
          <p:spPr>
            <a:xfrm>
              <a:off x="0" y="-38100"/>
              <a:ext cx="971835" cy="457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8"/>
          <p:cNvSpPr txBox="1"/>
          <p:nvPr/>
        </p:nvSpPr>
        <p:spPr>
          <a:xfrm>
            <a:off x="1477819" y="4112663"/>
            <a:ext cx="9668540" cy="3282950"/>
          </a:xfrm>
          <a:prstGeom prst="rect">
            <a:avLst/>
          </a:prstGeom>
        </p:spPr>
        <p:txBody>
          <a:bodyPr lIns="0" tIns="0" rIns="0" bIns="0" rtlCol="0" anchor="t">
            <a:spAutoFit/>
          </a:bodyPr>
          <a:lstStyle/>
          <a:p>
            <a:pPr marL="0" lvl="0" indent="0" algn="just">
              <a:lnSpc>
                <a:spcPts val="3189"/>
              </a:lnSpc>
            </a:pPr>
            <a:r>
              <a:rPr lang="en-US" sz="2798" dirty="0">
                <a:solidFill>
                  <a:srgbClr val="FFFFFF"/>
                </a:solidFill>
                <a:latin typeface="Koho"/>
                <a:ea typeface="Koho"/>
                <a:cs typeface="Koho"/>
                <a:sym typeface="Koho"/>
              </a:rPr>
              <a:t>Our system processes legal documents through a modular pipeline: raw legal PDFs are loaded and chunked, then converted into sentence embeddings stored in a FAISS vector database. At query time, semantic retrieval fetches the most relevant legal passages, which are fed into the NVIDIA Llama 3.1 LLM via a RAG framework to generate accurate, jurisdiction-aware answers with precise citations to Acts, Sections, and landmark cases.</a:t>
            </a:r>
          </a:p>
        </p:txBody>
      </p:sp>
      <p:sp>
        <p:nvSpPr>
          <p:cNvPr id="9" name="TextBox 9"/>
          <p:cNvSpPr txBox="1"/>
          <p:nvPr/>
        </p:nvSpPr>
        <p:spPr>
          <a:xfrm>
            <a:off x="1477819" y="1144541"/>
            <a:ext cx="8282278" cy="2314535"/>
          </a:xfrm>
          <a:prstGeom prst="rect">
            <a:avLst/>
          </a:prstGeom>
        </p:spPr>
        <p:txBody>
          <a:bodyPr lIns="0" tIns="0" rIns="0" bIns="0" rtlCol="0" anchor="t">
            <a:spAutoFit/>
          </a:bodyPr>
          <a:lstStyle/>
          <a:p>
            <a:pPr marL="0" lvl="0" indent="0" algn="l">
              <a:lnSpc>
                <a:spcPts val="8543"/>
              </a:lnSpc>
            </a:pPr>
            <a:r>
              <a:rPr lang="en-US" sz="7494" b="1" dirty="0">
                <a:solidFill>
                  <a:srgbClr val="FFFFFF"/>
                </a:solidFill>
                <a:latin typeface="Neo Tech Bold"/>
                <a:ea typeface="Neo Tech Bold"/>
                <a:cs typeface="Neo Tech Bold"/>
                <a:sym typeface="Neo Tech Bold"/>
              </a:rPr>
              <a:t>SYSTEM ARCHITECTURE</a:t>
            </a:r>
          </a:p>
        </p:txBody>
      </p:sp>
      <p:sp>
        <p:nvSpPr>
          <p:cNvPr id="10" name="Freeform 10"/>
          <p:cNvSpPr/>
          <p:nvPr/>
        </p:nvSpPr>
        <p:spPr>
          <a:xfrm rot="-8596510">
            <a:off x="11842078" y="-3330055"/>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pic>
        <p:nvPicPr>
          <p:cNvPr id="12" name="Picture 11">
            <a:extLst>
              <a:ext uri="{FF2B5EF4-FFF2-40B4-BE49-F238E27FC236}">
                <a16:creationId xmlns:a16="http://schemas.microsoft.com/office/drawing/2014/main" id="{0CC9EA69-64C3-4FFB-8C0B-DCEBDDC00C5B}"/>
              </a:ext>
            </a:extLst>
          </p:cNvPr>
          <p:cNvPicPr>
            <a:picLocks noChangeAspect="1"/>
          </p:cNvPicPr>
          <p:nvPr/>
        </p:nvPicPr>
        <p:blipFill>
          <a:blip r:embed="rId3"/>
          <a:stretch>
            <a:fillRect/>
          </a:stretch>
        </p:blipFill>
        <p:spPr>
          <a:xfrm>
            <a:off x="11658600" y="723900"/>
            <a:ext cx="2814307" cy="86010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2" name="Freeform 2"/>
          <p:cNvSpPr/>
          <p:nvPr/>
        </p:nvSpPr>
        <p:spPr>
          <a:xfrm rot="-5400000">
            <a:off x="-7221231" y="1520888"/>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a:off x="12384810" y="2397377"/>
            <a:ext cx="13836366" cy="7245224"/>
          </a:xfrm>
          <a:custGeom>
            <a:avLst/>
            <a:gdLst/>
            <a:ahLst/>
            <a:cxnLst/>
            <a:rect l="l" t="t" r="r" b="b"/>
            <a:pathLst>
              <a:path w="13836366" h="7245224">
                <a:moveTo>
                  <a:pt x="0" y="0"/>
                </a:moveTo>
                <a:lnTo>
                  <a:pt x="13836366" y="0"/>
                </a:lnTo>
                <a:lnTo>
                  <a:pt x="13836366" y="7245224"/>
                </a:lnTo>
                <a:lnTo>
                  <a:pt x="0" y="72452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3605314" y="4479361"/>
            <a:ext cx="837057" cy="837057"/>
          </a:xfrm>
          <a:custGeom>
            <a:avLst/>
            <a:gdLst/>
            <a:ahLst/>
            <a:cxnLst/>
            <a:rect l="l" t="t" r="r" b="b"/>
            <a:pathLst>
              <a:path w="837057" h="837057">
                <a:moveTo>
                  <a:pt x="0" y="0"/>
                </a:moveTo>
                <a:lnTo>
                  <a:pt x="837057" y="0"/>
                </a:lnTo>
                <a:lnTo>
                  <a:pt x="837057" y="837057"/>
                </a:lnTo>
                <a:lnTo>
                  <a:pt x="0" y="837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4336389" y="1587629"/>
            <a:ext cx="9615222" cy="2314575"/>
          </a:xfrm>
          <a:prstGeom prst="rect">
            <a:avLst/>
          </a:prstGeom>
        </p:spPr>
        <p:txBody>
          <a:bodyPr lIns="0" tIns="0" rIns="0" bIns="0" rtlCol="0" anchor="t">
            <a:spAutoFit/>
          </a:bodyPr>
          <a:lstStyle/>
          <a:p>
            <a:pPr marL="0" lvl="0" indent="0" algn="ctr">
              <a:lnSpc>
                <a:spcPts val="8549"/>
              </a:lnSpc>
            </a:pPr>
            <a:r>
              <a:rPr lang="en-US" sz="7500" b="1">
                <a:solidFill>
                  <a:srgbClr val="FFFFFF"/>
                </a:solidFill>
                <a:latin typeface="Neo Tech Bold"/>
                <a:ea typeface="Neo Tech Bold"/>
                <a:cs typeface="Neo Tech Bold"/>
                <a:sym typeface="Neo Tech Bold"/>
              </a:rPr>
              <a:t>EXPECTED OUTCOMES</a:t>
            </a:r>
          </a:p>
        </p:txBody>
      </p:sp>
      <p:sp>
        <p:nvSpPr>
          <p:cNvPr id="6" name="TextBox 6"/>
          <p:cNvSpPr txBox="1"/>
          <p:nvPr/>
        </p:nvSpPr>
        <p:spPr>
          <a:xfrm>
            <a:off x="4813846" y="4315722"/>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Improved efficiency of legal research with reduced manual effort in locating relevant documents across statutes, case laws, and constitutional provisions.</a:t>
            </a:r>
          </a:p>
        </p:txBody>
      </p:sp>
      <p:sp>
        <p:nvSpPr>
          <p:cNvPr id="7" name="TextBox 7"/>
          <p:cNvSpPr txBox="1"/>
          <p:nvPr/>
        </p:nvSpPr>
        <p:spPr>
          <a:xfrm>
            <a:off x="4813846" y="5856350"/>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Context-aware legal answers with accurate citations to Acts, Articles, Sections, and Landmark Case Laws ensuring jurisdiction-specific reliability.</a:t>
            </a:r>
          </a:p>
        </p:txBody>
      </p:sp>
      <p:sp>
        <p:nvSpPr>
          <p:cNvPr id="8" name="TextBox 8"/>
          <p:cNvSpPr txBox="1"/>
          <p:nvPr/>
        </p:nvSpPr>
        <p:spPr>
          <a:xfrm>
            <a:off x="4813846" y="7401685"/>
            <a:ext cx="10580784" cy="1192911"/>
          </a:xfrm>
          <a:prstGeom prst="rect">
            <a:avLst/>
          </a:prstGeom>
        </p:spPr>
        <p:txBody>
          <a:bodyPr lIns="0" tIns="0" rIns="0" bIns="0" rtlCol="0" anchor="t">
            <a:spAutoFit/>
          </a:bodyPr>
          <a:lstStyle/>
          <a:p>
            <a:pPr marL="0" lvl="0" indent="0" algn="l">
              <a:lnSpc>
                <a:spcPts val="3191"/>
              </a:lnSpc>
            </a:pPr>
            <a:r>
              <a:rPr lang="en-US" sz="2799">
                <a:solidFill>
                  <a:srgbClr val="FFFFFF"/>
                </a:solidFill>
                <a:latin typeface="Koho"/>
                <a:ea typeface="Koho"/>
                <a:cs typeface="Koho"/>
                <a:sym typeface="Koho"/>
              </a:rPr>
              <a:t>Minimized hallucination via Retrieval-Augmented Generation, creating an intelligent assistant for students, lawyers, and legal researchers.</a:t>
            </a:r>
          </a:p>
        </p:txBody>
      </p:sp>
      <p:sp>
        <p:nvSpPr>
          <p:cNvPr id="9" name="Freeform 9"/>
          <p:cNvSpPr/>
          <p:nvPr/>
        </p:nvSpPr>
        <p:spPr>
          <a:xfrm>
            <a:off x="3605314" y="6019989"/>
            <a:ext cx="837057" cy="837057"/>
          </a:xfrm>
          <a:custGeom>
            <a:avLst/>
            <a:gdLst/>
            <a:ahLst/>
            <a:cxnLst/>
            <a:rect l="l" t="t" r="r" b="b"/>
            <a:pathLst>
              <a:path w="837057" h="837057">
                <a:moveTo>
                  <a:pt x="0" y="0"/>
                </a:moveTo>
                <a:lnTo>
                  <a:pt x="837057" y="0"/>
                </a:lnTo>
                <a:lnTo>
                  <a:pt x="837057" y="837057"/>
                </a:lnTo>
                <a:lnTo>
                  <a:pt x="0" y="837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3689881" y="7657146"/>
            <a:ext cx="837057" cy="837057"/>
          </a:xfrm>
          <a:custGeom>
            <a:avLst/>
            <a:gdLst/>
            <a:ahLst/>
            <a:cxnLst/>
            <a:rect l="l" t="t" r="r" b="b"/>
            <a:pathLst>
              <a:path w="837057" h="837057">
                <a:moveTo>
                  <a:pt x="0" y="0"/>
                </a:moveTo>
                <a:lnTo>
                  <a:pt x="837057" y="0"/>
                </a:lnTo>
                <a:lnTo>
                  <a:pt x="837057" y="837057"/>
                </a:lnTo>
                <a:lnTo>
                  <a:pt x="0" y="837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41974" y="4169183"/>
            <a:ext cx="8975409" cy="1996379"/>
          </a:xfrm>
          <a:prstGeom prst="rect">
            <a:avLst/>
          </a:prstGeom>
        </p:spPr>
        <p:txBody>
          <a:bodyPr lIns="0" tIns="0" rIns="0" bIns="0" rtlCol="0" anchor="t">
            <a:spAutoFit/>
          </a:bodyPr>
          <a:lstStyle/>
          <a:p>
            <a:pPr marL="0" lvl="0" indent="0" algn="l">
              <a:lnSpc>
                <a:spcPts val="2270"/>
              </a:lnSpc>
            </a:pPr>
            <a:r>
              <a:rPr lang="en-US" sz="1991">
                <a:solidFill>
                  <a:srgbClr val="005FC2"/>
                </a:solidFill>
                <a:latin typeface="Koho"/>
                <a:ea typeface="Koho"/>
                <a:cs typeface="Koho"/>
                <a:sym typeface="Koho"/>
              </a:rPr>
              <a:t>Completed:</a:t>
            </a:r>
          </a:p>
          <a:p>
            <a:pPr marL="0" lvl="0" indent="0" algn="l">
              <a:lnSpc>
                <a:spcPts val="2270"/>
              </a:lnSpc>
            </a:pPr>
            <a:r>
              <a:rPr lang="en-US" sz="1991">
                <a:solidFill>
                  <a:srgbClr val="005FC2"/>
                </a:solidFill>
                <a:latin typeface="Koho"/>
                <a:ea typeface="Koho"/>
                <a:cs typeface="Koho"/>
                <a:sym typeface="Koho"/>
              </a:rPr>
              <a:t>• Collection of Indian legal corpus</a:t>
            </a:r>
          </a:p>
          <a:p>
            <a:pPr marL="0" lvl="0" indent="0" algn="l">
              <a:lnSpc>
                <a:spcPts val="2270"/>
              </a:lnSpc>
            </a:pPr>
            <a:r>
              <a:rPr lang="en-US" sz="1991">
                <a:solidFill>
                  <a:srgbClr val="005FC2"/>
                </a:solidFill>
                <a:latin typeface="Koho"/>
                <a:ea typeface="Koho"/>
                <a:cs typeface="Koho"/>
                <a:sym typeface="Koho"/>
              </a:rPr>
              <a:t>• Document preprocessing and chunking</a:t>
            </a:r>
          </a:p>
          <a:p>
            <a:pPr marL="0" lvl="0" indent="0" algn="l">
              <a:lnSpc>
                <a:spcPts val="2270"/>
              </a:lnSpc>
            </a:pPr>
            <a:r>
              <a:rPr lang="en-US" sz="1991">
                <a:solidFill>
                  <a:srgbClr val="005FC2"/>
                </a:solidFill>
                <a:latin typeface="Koho"/>
                <a:ea typeface="Koho"/>
                <a:cs typeface="Koho"/>
                <a:sym typeface="Koho"/>
              </a:rPr>
              <a:t>• FAISS vector database creation</a:t>
            </a:r>
          </a:p>
          <a:p>
            <a:pPr marL="0" lvl="0" indent="0" algn="l">
              <a:lnSpc>
                <a:spcPts val="2270"/>
              </a:lnSpc>
            </a:pPr>
            <a:r>
              <a:rPr lang="en-US" sz="1991">
                <a:solidFill>
                  <a:srgbClr val="005FC2"/>
                </a:solidFill>
                <a:latin typeface="Koho"/>
                <a:ea typeface="Koho"/>
                <a:cs typeface="Koho"/>
                <a:sym typeface="Koho"/>
              </a:rPr>
              <a:t>• Embedding generation</a:t>
            </a:r>
          </a:p>
          <a:p>
            <a:pPr marL="0" lvl="0" indent="0" algn="l">
              <a:lnSpc>
                <a:spcPts val="2270"/>
              </a:lnSpc>
            </a:pPr>
            <a:r>
              <a:rPr lang="en-US" sz="1991">
                <a:solidFill>
                  <a:srgbClr val="005FC2"/>
                </a:solidFill>
                <a:latin typeface="Koho"/>
                <a:ea typeface="Koho"/>
                <a:cs typeface="Koho"/>
                <a:sym typeface="Koho"/>
              </a:rPr>
              <a:t>• RAG pipeline implementation</a:t>
            </a:r>
          </a:p>
          <a:p>
            <a:pPr marL="0" lvl="0" indent="0" algn="l">
              <a:lnSpc>
                <a:spcPts val="2270"/>
              </a:lnSpc>
            </a:pPr>
            <a:r>
              <a:rPr lang="en-US" sz="1991">
                <a:solidFill>
                  <a:srgbClr val="005FC2"/>
                </a:solidFill>
                <a:latin typeface="Koho"/>
                <a:ea typeface="Koho"/>
                <a:cs typeface="Koho"/>
                <a:sym typeface="Koho"/>
              </a:rPr>
              <a:t>• Streamlit-based Legal Research Assistant</a:t>
            </a:r>
          </a:p>
        </p:txBody>
      </p:sp>
      <p:sp>
        <p:nvSpPr>
          <p:cNvPr id="3" name="Freeform 3"/>
          <p:cNvSpPr/>
          <p:nvPr/>
        </p:nvSpPr>
        <p:spPr>
          <a:xfrm rot="-10149532" flipH="1">
            <a:off x="-3580585" y="4143179"/>
            <a:ext cx="7161170" cy="1023024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29211" flipH="1">
            <a:off x="14707415" y="-4280324"/>
            <a:ext cx="7161170" cy="10230243"/>
          </a:xfrm>
          <a:custGeom>
            <a:avLst/>
            <a:gdLst/>
            <a:ahLst/>
            <a:cxnLst/>
            <a:rect l="l" t="t" r="r" b="b"/>
            <a:pathLst>
              <a:path w="7161170" h="10230243">
                <a:moveTo>
                  <a:pt x="7161170" y="0"/>
                </a:moveTo>
                <a:lnTo>
                  <a:pt x="0" y="0"/>
                </a:lnTo>
                <a:lnTo>
                  <a:pt x="0" y="10230242"/>
                </a:lnTo>
                <a:lnTo>
                  <a:pt x="7161170" y="10230242"/>
                </a:lnTo>
                <a:lnTo>
                  <a:pt x="716117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970617" y="3826707"/>
            <a:ext cx="4982576" cy="5068483"/>
          </a:xfrm>
          <a:custGeom>
            <a:avLst/>
            <a:gdLst/>
            <a:ahLst/>
            <a:cxnLst/>
            <a:rect l="l" t="t" r="r" b="b"/>
            <a:pathLst>
              <a:path w="4982576" h="5068483">
                <a:moveTo>
                  <a:pt x="0" y="0"/>
                </a:moveTo>
                <a:lnTo>
                  <a:pt x="4982576" y="0"/>
                </a:lnTo>
                <a:lnTo>
                  <a:pt x="4982576" y="5068483"/>
                </a:lnTo>
                <a:lnTo>
                  <a:pt x="0" y="50684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3622883" y="1246437"/>
            <a:ext cx="10894849" cy="1238250"/>
          </a:xfrm>
          <a:prstGeom prst="rect">
            <a:avLst/>
          </a:prstGeom>
        </p:spPr>
        <p:txBody>
          <a:bodyPr lIns="0" tIns="0" rIns="0" bIns="0" rtlCol="0" anchor="t">
            <a:spAutoFit/>
          </a:bodyPr>
          <a:lstStyle/>
          <a:p>
            <a:pPr marL="0" lvl="0" indent="0" algn="ctr">
              <a:lnSpc>
                <a:spcPts val="8549"/>
              </a:lnSpc>
            </a:pPr>
            <a:r>
              <a:rPr lang="en-US" sz="7500" b="1">
                <a:solidFill>
                  <a:srgbClr val="005FC2"/>
                </a:solidFill>
                <a:latin typeface="Neo Tech Bold"/>
                <a:ea typeface="Neo Tech Bold"/>
                <a:cs typeface="Neo Tech Bold"/>
                <a:sym typeface="Neo Tech Bold"/>
              </a:rPr>
              <a:t>CURRENT PROGRESS</a:t>
            </a:r>
          </a:p>
        </p:txBody>
      </p:sp>
      <p:sp>
        <p:nvSpPr>
          <p:cNvPr id="7" name="TextBox 7"/>
          <p:cNvSpPr txBox="1"/>
          <p:nvPr/>
        </p:nvSpPr>
        <p:spPr>
          <a:xfrm>
            <a:off x="7341974" y="6569229"/>
            <a:ext cx="8975409" cy="1424879"/>
          </a:xfrm>
          <a:prstGeom prst="rect">
            <a:avLst/>
          </a:prstGeom>
        </p:spPr>
        <p:txBody>
          <a:bodyPr lIns="0" tIns="0" rIns="0" bIns="0" rtlCol="0" anchor="t">
            <a:spAutoFit/>
          </a:bodyPr>
          <a:lstStyle/>
          <a:p>
            <a:pPr marL="0" lvl="0" indent="0" algn="l">
              <a:lnSpc>
                <a:spcPts val="2270"/>
              </a:lnSpc>
            </a:pPr>
            <a:r>
              <a:rPr lang="en-US" sz="1991">
                <a:solidFill>
                  <a:srgbClr val="005FC2"/>
                </a:solidFill>
                <a:latin typeface="Koho"/>
                <a:ea typeface="Koho"/>
                <a:cs typeface="Koho"/>
                <a:sym typeface="Koho"/>
              </a:rPr>
              <a:t>In Progress:</a:t>
            </a:r>
          </a:p>
          <a:p>
            <a:pPr marL="0" lvl="0" indent="0" algn="l">
              <a:lnSpc>
                <a:spcPts val="2270"/>
              </a:lnSpc>
            </a:pPr>
            <a:r>
              <a:rPr lang="en-US" sz="1991">
                <a:solidFill>
                  <a:srgbClr val="005FC2"/>
                </a:solidFill>
                <a:latin typeface="Koho"/>
                <a:ea typeface="Koho"/>
                <a:cs typeface="Koho"/>
                <a:sym typeface="Koho"/>
              </a:rPr>
              <a:t>• PDF Case Analyzer</a:t>
            </a:r>
          </a:p>
          <a:p>
            <a:pPr marL="0" lvl="0" indent="0" algn="l">
              <a:lnSpc>
                <a:spcPts val="2270"/>
              </a:lnSpc>
            </a:pPr>
            <a:r>
              <a:rPr lang="en-US" sz="1991">
                <a:solidFill>
                  <a:srgbClr val="005FC2"/>
                </a:solidFill>
                <a:latin typeface="Koho"/>
                <a:ea typeface="Koho"/>
                <a:cs typeface="Koho"/>
                <a:sym typeface="Koho"/>
              </a:rPr>
              <a:t>• Improved UI</a:t>
            </a:r>
          </a:p>
          <a:p>
            <a:pPr marL="0" lvl="0" indent="0" algn="l">
              <a:lnSpc>
                <a:spcPts val="2270"/>
              </a:lnSpc>
            </a:pPr>
            <a:r>
              <a:rPr lang="en-US" sz="1991">
                <a:solidFill>
                  <a:srgbClr val="005FC2"/>
                </a:solidFill>
                <a:latin typeface="Koho"/>
                <a:ea typeface="Koho"/>
                <a:cs typeface="Koho"/>
                <a:sym typeface="Koho"/>
              </a:rPr>
              <a:t>• Citation Ranking</a:t>
            </a:r>
          </a:p>
          <a:p>
            <a:pPr marL="0" lvl="0" indent="0" algn="l">
              <a:lnSpc>
                <a:spcPts val="2270"/>
              </a:lnSpc>
            </a:pPr>
            <a:r>
              <a:rPr lang="en-US" sz="1991">
                <a:solidFill>
                  <a:srgbClr val="005FC2"/>
                </a:solidFill>
                <a:latin typeface="Koho"/>
                <a:ea typeface="Koho"/>
                <a:cs typeface="Koho"/>
                <a:sym typeface="Koho"/>
              </a:rPr>
              <a:t>• Performance Optimization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3809" y="1685119"/>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FUTURE SCOPE</a:t>
            </a:r>
          </a:p>
        </p:txBody>
      </p:sp>
      <p:sp>
        <p:nvSpPr>
          <p:cNvPr id="3" name="TextBox 3"/>
          <p:cNvSpPr txBox="1"/>
          <p:nvPr/>
        </p:nvSpPr>
        <p:spPr>
          <a:xfrm>
            <a:off x="11353800" y="3526971"/>
            <a:ext cx="6172200" cy="2462213"/>
          </a:xfrm>
          <a:prstGeom prst="rect">
            <a:avLst/>
          </a:prstGeom>
        </p:spPr>
        <p:txBody>
          <a:bodyPr wrap="square" lIns="0" tIns="0" rIns="0" bIns="0" rtlCol="0" anchor="t">
            <a:spAutoFit/>
          </a:bodyPr>
          <a:lstStyle/>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Continuous Learning from New Judgments</a:t>
            </a:r>
          </a:p>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Cross-referencing Multiple Legal Sources</a:t>
            </a:r>
          </a:p>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User Feedback Loop for Answer Refinement</a:t>
            </a:r>
          </a:p>
        </p:txBody>
      </p:sp>
      <p:sp>
        <p:nvSpPr>
          <p:cNvPr id="4" name="Freeform 4"/>
          <p:cNvSpPr/>
          <p:nvPr/>
        </p:nvSpPr>
        <p:spPr>
          <a:xfrm>
            <a:off x="-1989974" y="-14439893"/>
            <a:ext cx="7239292" cy="25739703"/>
          </a:xfrm>
          <a:custGeom>
            <a:avLst/>
            <a:gdLst/>
            <a:ahLst/>
            <a:cxnLst/>
            <a:rect l="l" t="t" r="r" b="b"/>
            <a:pathLst>
              <a:path w="7239292" h="25739703">
                <a:moveTo>
                  <a:pt x="0" y="0"/>
                </a:moveTo>
                <a:lnTo>
                  <a:pt x="7239292" y="0"/>
                </a:lnTo>
                <a:lnTo>
                  <a:pt x="7239292" y="25739704"/>
                </a:lnTo>
                <a:lnTo>
                  <a:pt x="0" y="25739704"/>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4625030" y="3632039"/>
            <a:ext cx="5890570" cy="2051844"/>
          </a:xfrm>
          <a:prstGeom prst="rect">
            <a:avLst/>
          </a:prstGeom>
        </p:spPr>
        <p:txBody>
          <a:bodyPr wrap="square" lIns="0" tIns="0" rIns="0" bIns="0" rtlCol="0" anchor="t">
            <a:spAutoFit/>
          </a:bodyPr>
          <a:lstStyle/>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Case PDF Analysis</a:t>
            </a:r>
          </a:p>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Automatic Legal Summarization</a:t>
            </a:r>
          </a:p>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Multi-Jurisdiction Support</a:t>
            </a:r>
          </a:p>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Voice-based Legal Assistant</a:t>
            </a:r>
          </a:p>
          <a:p>
            <a:pPr marL="457200" lvl="0" indent="-457200" algn="l">
              <a:lnSpc>
                <a:spcPts val="3191"/>
              </a:lnSpc>
              <a:buFont typeface="Arial" panose="020B0604020202020204" pitchFamily="34" charset="0"/>
              <a:buChar char="•"/>
            </a:pPr>
            <a:r>
              <a:rPr lang="en-US" sz="2799" dirty="0">
                <a:solidFill>
                  <a:srgbClr val="005FC2"/>
                </a:solidFill>
                <a:latin typeface="Koho"/>
                <a:ea typeface="Koho"/>
                <a:cs typeface="Koho"/>
                <a:sym typeface="Koho"/>
              </a:rPr>
              <a:t>Multi-Agent Legal Reasoning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22833" y="4562934"/>
            <a:ext cx="9842334" cy="1075406"/>
          </a:xfrm>
          <a:prstGeom prst="rect">
            <a:avLst/>
          </a:prstGeom>
        </p:spPr>
        <p:txBody>
          <a:bodyPr lIns="0" tIns="0" rIns="0" bIns="0" rtlCol="0" anchor="t">
            <a:spAutoFit/>
          </a:bodyPr>
          <a:lstStyle/>
          <a:p>
            <a:pPr marL="0" lvl="0" indent="0" algn="ctr">
              <a:lnSpc>
                <a:spcPts val="7365"/>
              </a:lnSpc>
            </a:pPr>
            <a:r>
              <a:rPr lang="en-US" sz="6460" b="1">
                <a:solidFill>
                  <a:srgbClr val="005FC2"/>
                </a:solidFill>
                <a:latin typeface="Neo Tech Bold"/>
                <a:ea typeface="Neo Tech Bold"/>
                <a:cs typeface="Neo Tech Bold"/>
                <a:sym typeface="Neo Tech Bold"/>
              </a:rPr>
              <a:t>THANK YOU</a:t>
            </a:r>
          </a:p>
        </p:txBody>
      </p:sp>
      <p:sp>
        <p:nvSpPr>
          <p:cNvPr id="3" name="Freeform 3"/>
          <p:cNvSpPr/>
          <p:nvPr/>
        </p:nvSpPr>
        <p:spPr>
          <a:xfrm>
            <a:off x="12607946" y="-19111592"/>
            <a:ext cx="7325474" cy="42776488"/>
          </a:xfrm>
          <a:custGeom>
            <a:avLst/>
            <a:gdLst/>
            <a:ahLst/>
            <a:cxnLst/>
            <a:rect l="l" t="t" r="r" b="b"/>
            <a:pathLst>
              <a:path w="7325474" h="42776488">
                <a:moveTo>
                  <a:pt x="0" y="0"/>
                </a:moveTo>
                <a:lnTo>
                  <a:pt x="7325473" y="0"/>
                </a:lnTo>
                <a:lnTo>
                  <a:pt x="7325473" y="42776488"/>
                </a:lnTo>
                <a:lnTo>
                  <a:pt x="0" y="42776488"/>
                </a:lnTo>
                <a:lnTo>
                  <a:pt x="0" y="0"/>
                </a:lnTo>
                <a:close/>
              </a:path>
            </a:pathLst>
          </a:custGeom>
          <a:blipFill>
            <a:blip r:embed="rId2"/>
            <a:stretch>
              <a:fillRect/>
            </a:stretch>
          </a:blipFill>
        </p:spPr>
        <p:txBody>
          <a:bodyPr/>
          <a:lstStyle/>
          <a:p>
            <a:endParaRPr lang="en-US"/>
          </a:p>
        </p:txBody>
      </p:sp>
      <p:sp>
        <p:nvSpPr>
          <p:cNvPr id="4" name="Freeform 4"/>
          <p:cNvSpPr/>
          <p:nvPr/>
        </p:nvSpPr>
        <p:spPr>
          <a:xfrm rot="-151067">
            <a:off x="-2073649" y="3211636"/>
            <a:ext cx="7429706" cy="10613866"/>
          </a:xfrm>
          <a:custGeom>
            <a:avLst/>
            <a:gdLst/>
            <a:ahLst/>
            <a:cxnLst/>
            <a:rect l="l" t="t" r="r" b="b"/>
            <a:pathLst>
              <a:path w="7429706" h="10613866">
                <a:moveTo>
                  <a:pt x="0" y="0"/>
                </a:moveTo>
                <a:lnTo>
                  <a:pt x="7429706" y="0"/>
                </a:lnTo>
                <a:lnTo>
                  <a:pt x="7429706" y="10613866"/>
                </a:lnTo>
                <a:lnTo>
                  <a:pt x="0" y="10613866"/>
                </a:lnTo>
                <a:lnTo>
                  <a:pt x="0" y="0"/>
                </a:lnTo>
                <a:close/>
              </a:path>
            </a:pathLst>
          </a:custGeom>
          <a:blipFill>
            <a:blip r:embed="rId3"/>
            <a:stretch>
              <a:fillRect/>
            </a:stretch>
          </a:blipFill>
        </p:spPr>
        <p:txBody>
          <a:bodyPr/>
          <a:lstStyle/>
          <a:p>
            <a:endParaRPr lang="en-US"/>
          </a:p>
        </p:txBody>
      </p:sp>
      <p:sp>
        <p:nvSpPr>
          <p:cNvPr id="5" name="Freeform 5"/>
          <p:cNvSpPr/>
          <p:nvPr/>
        </p:nvSpPr>
        <p:spPr>
          <a:xfrm>
            <a:off x="1224432" y="-4207509"/>
            <a:ext cx="7796619" cy="8440183"/>
          </a:xfrm>
          <a:custGeom>
            <a:avLst/>
            <a:gdLst/>
            <a:ahLst/>
            <a:cxnLst/>
            <a:rect l="l" t="t" r="r" b="b"/>
            <a:pathLst>
              <a:path w="7796619" h="8440183">
                <a:moveTo>
                  <a:pt x="0" y="0"/>
                </a:moveTo>
                <a:lnTo>
                  <a:pt x="7796618" y="0"/>
                </a:lnTo>
                <a:lnTo>
                  <a:pt x="7796618" y="8440183"/>
                </a:lnTo>
                <a:lnTo>
                  <a:pt x="0" y="8440183"/>
                </a:lnTo>
                <a:lnTo>
                  <a:pt x="0" y="0"/>
                </a:lnTo>
                <a:close/>
              </a:path>
            </a:pathLst>
          </a:custGeom>
          <a:blipFill>
            <a:blip r:embed="rId4"/>
            <a:stretch>
              <a:fillRect/>
            </a:stretch>
          </a:blipFill>
        </p:spPr>
        <p:txBody>
          <a:bodyPr/>
          <a:lstStyle/>
          <a:p>
            <a:endParaRPr lang="en-US"/>
          </a:p>
        </p:txBody>
      </p:sp>
      <p:sp>
        <p:nvSpPr>
          <p:cNvPr id="6" name="Freeform 6"/>
          <p:cNvSpPr/>
          <p:nvPr/>
        </p:nvSpPr>
        <p:spPr>
          <a:xfrm>
            <a:off x="8673287" y="4259946"/>
            <a:ext cx="7793442" cy="7686282"/>
          </a:xfrm>
          <a:custGeom>
            <a:avLst/>
            <a:gdLst/>
            <a:ahLst/>
            <a:cxnLst/>
            <a:rect l="l" t="t" r="r" b="b"/>
            <a:pathLst>
              <a:path w="7793442" h="7686282">
                <a:moveTo>
                  <a:pt x="0" y="0"/>
                </a:moveTo>
                <a:lnTo>
                  <a:pt x="7793442" y="0"/>
                </a:lnTo>
                <a:lnTo>
                  <a:pt x="7793442" y="7686283"/>
                </a:lnTo>
                <a:lnTo>
                  <a:pt x="0" y="7686283"/>
                </a:lnTo>
                <a:lnTo>
                  <a:pt x="0" y="0"/>
                </a:lnTo>
                <a:close/>
              </a:path>
            </a:pathLst>
          </a:custGeom>
          <a:blipFill>
            <a:blip r:embed="rId5"/>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811</Words>
  <Application>Microsoft Office PowerPoint</Application>
  <PresentationFormat>Custom</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Neo Tech Bold</vt:lpstr>
      <vt:lpstr>Koho Bold</vt:lpstr>
      <vt:lpstr>Arial</vt:lpstr>
      <vt:lpstr>Koho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Legal Research Assistant (RAG)</dc:title>
  <cp:lastModifiedBy>HARSHIKA REDDY VALLETI</cp:lastModifiedBy>
  <cp:revision>4</cp:revision>
  <dcterms:created xsi:type="dcterms:W3CDTF">2006-08-16T00:00:00Z</dcterms:created>
  <dcterms:modified xsi:type="dcterms:W3CDTF">2026-07-22T03:32:55Z</dcterms:modified>
  <dc:identifier>DAHQCj7VU2w</dc:identifier>
</cp:coreProperties>
</file>